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the panel. Introduce yourself, the project title ReturnX, and its purpose: a smart enterprise lost &amp; found platform built as a capstone under the GlobalLogic Java Track TE 2.0 program. Keep this to 30 seconds.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12 agenda points quickly — this sets audience expectations for the full technical depth to come: architecture, diagrams, database, security, and roadmap.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the problem in human terms first (frustrated employees, lost time) before moving into the operational challenges on the next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five pain points are the direct drivers behind every design decision in ReturnX — refer back to this slide when justifying features later.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Emphasize that ReturnX directly counters each of the five business challenges shown earlier — this is the pivot slide from problem to solution.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 each value point back to measurable outcomes if asked — e.g., reduced HR hours per week, faster average claim-to-return 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Trace the full lifecycle: an employee logs in, reports or finds an item, the system supports search and claim, in-app chat and verification build trust, a meeting is arranged, the item is returned, and reward points close the loop.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request path top-down: users hit the React frontend, which calls the API Gateway; Eureka handles service discovery and Config Server centralizes configuration; requests fan out to individual microservices, each with its own database — a classic database-per-service pattern.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microservice owns its own data and business logic, communicating through the API Gateway and Eureka — this gives independent scalability and deployment per service.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activity diagram top to bottom: login, search, claim submission, then the key decision — owner verification. A verified claim proceeds to meeting, return, and reward; a rejected claim exits the flow.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Standard DFD notation: squares are external entities (Employee, Admin, Matched Owner), circles/ellipses are processes, and open-ended rectangles are data stores. Dashed lines show data store read/write flows.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swim lane view clarifies responsibility: the Employee and Finder both submit reports independently, the System handles matching and notification automatically, and the Admin performs the final verification and closes the case.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Core domain classes: a User reports many Items; each Item can receive many Claims; a verified Claim generates a Reward and opens a ChatRoom, which holds many Messages between finder and claimant; Notifications are triggered on key state changes.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Database-per-service pattern: each microservice owns its schema. Foreign keys shown here represent logical relationships resolved via service calls rather than physical cross-database joins.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Highlight that the stack follows a standard enterprise Java microservices pattern — React for the SPA, Spring Boot/Cloud for services, containerized on Docker/Kubernetes and deployed to AWS.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Security is layered: JWT + Spring Security handle authN/authZ, BCrypt protects credentials at rest, HTTPS protects data in transit, and RBAC plus input validation limit the blast radius of any single compromised account.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Points create a positive feedback loop: reporting and returning items earns points, false claims are penalized, and a visible leaderboard drives friendly competition across the organization.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Notification Service listens to domain events published by Item, Claim, and Reward services, then fans them out via email and in-app channels — keeping every user informed without manual follow-up.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microservice exposes a versioned REST API behind the Gateway; this is a representative sample of the six core services' primary endpoints.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roadmap items push ReturnX from a solid MVP toward a smarter, more integrated enterprise product — AI matching and Kafka in particular would materially cut recovery time further.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by reinforcing the business impact — efficiency, speed, trust, and scalability — then transition to the thank-you / Q&amp;A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Thank the panel and invite questions. Be ready to go back to the architecture, ER, or security slides depending on what's asked.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D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097280"/>
            <a:ext cx="4754880" cy="4754880"/>
          </a:xfrm>
          <a:prstGeom prst="ellipse">
            <a:avLst/>
          </a:prstGeom>
          <a:solidFill>
            <a:srgbClr val="0A2E45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274320"/>
            <a:ext cx="2377440" cy="2377440"/>
          </a:xfrm>
          <a:prstGeom prst="ellipse">
            <a:avLst/>
          </a:prstGeom>
          <a:solidFill>
            <a:srgbClr val="0E8C6E"/>
          </a:solidFill>
          <a:ln/>
        </p:spPr>
      </p:sp>
      <p:sp>
        <p:nvSpPr>
          <p:cNvPr id="4" name="Shape 2"/>
          <p:cNvSpPr/>
          <p:nvPr/>
        </p:nvSpPr>
        <p:spPr>
          <a:xfrm>
            <a:off x="9281160" y="1417320"/>
            <a:ext cx="192024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8732520" y="1051560"/>
            <a:ext cx="914400" cy="9144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9646920" y="777240"/>
            <a:ext cx="1234440" cy="123444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9692640" y="2377440"/>
            <a:ext cx="128016" cy="128016"/>
          </a:xfrm>
          <a:prstGeom prst="ellipse">
            <a:avLst/>
          </a:prstGeom>
          <a:solidFill>
            <a:srgbClr val="2ECC71"/>
          </a:solidFill>
          <a:ln/>
        </p:spPr>
      </p:sp>
      <p:sp>
        <p:nvSpPr>
          <p:cNvPr id="8" name="Shape 6"/>
          <p:cNvSpPr/>
          <p:nvPr/>
        </p:nvSpPr>
        <p:spPr>
          <a:xfrm>
            <a:off x="10607040" y="2743200"/>
            <a:ext cx="128016" cy="128016"/>
          </a:xfrm>
          <a:prstGeom prst="ellipse">
            <a:avLst/>
          </a:prstGeom>
          <a:solidFill>
            <a:srgbClr val="2ECC71"/>
          </a:solidFill>
          <a:ln/>
        </p:spPr>
      </p:sp>
      <p:sp>
        <p:nvSpPr>
          <p:cNvPr id="9" name="Shape 7"/>
          <p:cNvSpPr/>
          <p:nvPr/>
        </p:nvSpPr>
        <p:spPr>
          <a:xfrm>
            <a:off x="11247120" y="2011680"/>
            <a:ext cx="128016" cy="128016"/>
          </a:xfrm>
          <a:prstGeom prst="ellipse">
            <a:avLst/>
          </a:prstGeom>
          <a:solidFill>
            <a:srgbClr val="2ECC71"/>
          </a:solidFill>
          <a:ln/>
        </p:spPr>
      </p:sp>
      <p:sp>
        <p:nvSpPr>
          <p:cNvPr id="10" name="Shape 8"/>
          <p:cNvSpPr/>
          <p:nvPr/>
        </p:nvSpPr>
        <p:spPr>
          <a:xfrm>
            <a:off x="9756648" y="2441448"/>
            <a:ext cx="914400" cy="365760"/>
          </a:xfrm>
          <a:prstGeom prst="line">
            <a:avLst/>
          </a:prstGeom>
          <a:noFill/>
          <a:ln w="15875">
            <a:solidFill>
              <a:srgbClr val="2ECC7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flipV="1">
            <a:off x="10671048" y="2075688"/>
            <a:ext cx="640080" cy="731520"/>
          </a:xfrm>
          <a:prstGeom prst="line">
            <a:avLst/>
          </a:prstGeom>
          <a:noFill/>
          <a:ln w="15875">
            <a:solidFill>
              <a:srgbClr val="2ECC7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5806440"/>
            <a:ext cx="12191695" cy="1051560"/>
          </a:xfrm>
          <a:prstGeom prst="rect">
            <a:avLst/>
          </a:prstGeom>
          <a:solidFill>
            <a:srgbClr val="0A2E45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1965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PROJECT  •  GLOBALLOGIC JAVA TRACK TE 2.0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0080" y="2331720"/>
            <a:ext cx="8686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ReturnX</a:t>
            </a:r>
            <a:endParaRPr lang="en-US" sz="6800" dirty="0"/>
          </a:p>
        </p:txBody>
      </p:sp>
      <p:sp>
        <p:nvSpPr>
          <p:cNvPr id="15" name="Text 13"/>
          <p:cNvSpPr/>
          <p:nvPr/>
        </p:nvSpPr>
        <p:spPr>
          <a:xfrm>
            <a:off x="685800" y="352044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Enterprise Lost &amp; Found Management System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685800" y="4206240"/>
            <a:ext cx="2011680" cy="0"/>
          </a:xfrm>
          <a:prstGeom prst="line">
            <a:avLst/>
          </a:prstGeom>
          <a:noFill/>
          <a:ln w="31750">
            <a:solidFill>
              <a:srgbClr val="2ECC7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59893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Name: </a:t>
            </a:r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[Your Name Here]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85800" y="62636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Date: </a:t>
            </a:r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[Presentation Date]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8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120640" cy="621792"/>
          </a:xfrm>
          <a:prstGeom prst="roundRect">
            <a:avLst>
              <a:gd name="adj" fmla="val 11765"/>
            </a:avLst>
          </a:prstGeom>
          <a:solidFill>
            <a:srgbClr val="F4F7FA"/>
          </a:solidFill>
          <a:ln/>
          <a:effectLst>
            <a:outerShdw sx="100000" sy="100000" kx="0" ky="0" algn="bl" rotWithShape="0" blurRad="76200" dist="25400" dir="5400000">
              <a:srgbClr val="9CA3AF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04088" y="1499616"/>
            <a:ext cx="457200" cy="457200"/>
          </a:xfrm>
          <a:prstGeom prst="ellipse">
            <a:avLst/>
          </a:prstGeom>
          <a:solidFill>
            <a:srgbClr val="0B3D5C"/>
          </a:solidFill>
          <a:ln/>
        </p:spPr>
      </p:sp>
      <p:sp>
        <p:nvSpPr>
          <p:cNvPr id="6" name="Text 4"/>
          <p:cNvSpPr/>
          <p:nvPr/>
        </p:nvSpPr>
        <p:spPr>
          <a:xfrm>
            <a:off x="704088" y="14996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280160" y="1417320"/>
            <a:ext cx="4206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48640" y="2194560"/>
            <a:ext cx="5120640" cy="621792"/>
          </a:xfrm>
          <a:prstGeom prst="roundRect">
            <a:avLst>
              <a:gd name="adj" fmla="val 11765"/>
            </a:avLst>
          </a:prstGeom>
          <a:solidFill>
            <a:srgbClr val="F4F7FA"/>
          </a:solidFill>
          <a:ln/>
          <a:effectLst>
            <a:outerShdw sx="100000" sy="100000" kx="0" ky="0" algn="bl" rotWithShape="0" blurRad="76200" dist="25400" dir="5400000">
              <a:srgbClr val="9CA3AF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04088" y="2276856"/>
            <a:ext cx="457200" cy="457200"/>
          </a:xfrm>
          <a:prstGeom prst="ellipse">
            <a:avLst/>
          </a:prstGeom>
          <a:solidFill>
            <a:srgbClr val="0B3D5C"/>
          </a:solidFill>
          <a:ln/>
        </p:spPr>
      </p:sp>
      <p:sp>
        <p:nvSpPr>
          <p:cNvPr id="10" name="Text 8"/>
          <p:cNvSpPr/>
          <p:nvPr/>
        </p:nvSpPr>
        <p:spPr>
          <a:xfrm>
            <a:off x="704088" y="22768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280160" y="2194560"/>
            <a:ext cx="4206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Challenges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548640" y="2971800"/>
            <a:ext cx="5120640" cy="621792"/>
          </a:xfrm>
          <a:prstGeom prst="roundRect">
            <a:avLst>
              <a:gd name="adj" fmla="val 11765"/>
            </a:avLst>
          </a:prstGeom>
          <a:solidFill>
            <a:srgbClr val="F4F7FA"/>
          </a:solidFill>
          <a:ln/>
          <a:effectLst>
            <a:outerShdw sx="100000" sy="100000" kx="0" ky="0" algn="bl" rotWithShape="0" blurRad="76200" dist="25400" dir="5400000">
              <a:srgbClr val="9CA3AF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04088" y="3054096"/>
            <a:ext cx="457200" cy="457200"/>
          </a:xfrm>
          <a:prstGeom prst="ellipse">
            <a:avLst/>
          </a:prstGeom>
          <a:solidFill>
            <a:srgbClr val="0B3D5C"/>
          </a:solidFill>
          <a:ln/>
        </p:spPr>
      </p:sp>
      <p:sp>
        <p:nvSpPr>
          <p:cNvPr id="14" name="Text 12"/>
          <p:cNvSpPr/>
          <p:nvPr/>
        </p:nvSpPr>
        <p:spPr>
          <a:xfrm>
            <a:off x="704088" y="30540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280160" y="2971800"/>
            <a:ext cx="4206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548640" y="3749040"/>
            <a:ext cx="5120640" cy="621792"/>
          </a:xfrm>
          <a:prstGeom prst="roundRect">
            <a:avLst>
              <a:gd name="adj" fmla="val 11765"/>
            </a:avLst>
          </a:prstGeom>
          <a:solidFill>
            <a:srgbClr val="F4F7FA"/>
          </a:solidFill>
          <a:ln/>
          <a:effectLst>
            <a:outerShdw sx="100000" sy="100000" kx="0" ky="0" algn="bl" rotWithShape="0" blurRad="76200" dist="25400" dir="5400000">
              <a:srgbClr val="9CA3AF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04088" y="3831336"/>
            <a:ext cx="457200" cy="457200"/>
          </a:xfrm>
          <a:prstGeom prst="ellipse">
            <a:avLst/>
          </a:prstGeom>
          <a:solidFill>
            <a:srgbClr val="0B3D5C"/>
          </a:solidFill>
          <a:ln/>
        </p:spPr>
      </p:sp>
      <p:sp>
        <p:nvSpPr>
          <p:cNvPr id="18" name="Text 16"/>
          <p:cNvSpPr/>
          <p:nvPr/>
        </p:nvSpPr>
        <p:spPr>
          <a:xfrm>
            <a:off x="704088" y="38313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280160" y="3749040"/>
            <a:ext cx="4206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Value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548640" y="4526280"/>
            <a:ext cx="5120640" cy="621792"/>
          </a:xfrm>
          <a:prstGeom prst="roundRect">
            <a:avLst>
              <a:gd name="adj" fmla="val 11765"/>
            </a:avLst>
          </a:prstGeom>
          <a:solidFill>
            <a:srgbClr val="F4F7FA"/>
          </a:solidFill>
          <a:ln/>
          <a:effectLst>
            <a:outerShdw sx="100000" sy="100000" kx="0" ky="0" algn="bl" rotWithShape="0" blurRad="76200" dist="25400" dir="5400000">
              <a:srgbClr val="9CA3AF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04088" y="4608576"/>
            <a:ext cx="457200" cy="457200"/>
          </a:xfrm>
          <a:prstGeom prst="ellipse">
            <a:avLst/>
          </a:prstGeom>
          <a:solidFill>
            <a:srgbClr val="0B3D5C"/>
          </a:solidFill>
          <a:ln/>
        </p:spPr>
      </p:sp>
      <p:sp>
        <p:nvSpPr>
          <p:cNvPr id="22" name="Text 20"/>
          <p:cNvSpPr/>
          <p:nvPr/>
        </p:nvSpPr>
        <p:spPr>
          <a:xfrm>
            <a:off x="704088" y="46085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280160" y="4526280"/>
            <a:ext cx="4206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Workflow</a:t>
            </a:r>
            <a:endParaRPr lang="en-US" sz="1450" dirty="0"/>
          </a:p>
        </p:txBody>
      </p:sp>
      <p:sp>
        <p:nvSpPr>
          <p:cNvPr id="24" name="Shape 22"/>
          <p:cNvSpPr/>
          <p:nvPr/>
        </p:nvSpPr>
        <p:spPr>
          <a:xfrm>
            <a:off x="548640" y="5303520"/>
            <a:ext cx="5120640" cy="621792"/>
          </a:xfrm>
          <a:prstGeom prst="roundRect">
            <a:avLst>
              <a:gd name="adj" fmla="val 11765"/>
            </a:avLst>
          </a:prstGeom>
          <a:solidFill>
            <a:srgbClr val="F4F7FA"/>
          </a:solidFill>
          <a:ln/>
          <a:effectLst>
            <a:outerShdw sx="100000" sy="100000" kx="0" ky="0" algn="bl" rotWithShape="0" blurRad="76200" dist="25400" dir="5400000">
              <a:srgbClr val="9CA3AF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04088" y="5385816"/>
            <a:ext cx="457200" cy="457200"/>
          </a:xfrm>
          <a:prstGeom prst="ellipse">
            <a:avLst/>
          </a:prstGeom>
          <a:solidFill>
            <a:srgbClr val="0B3D5C"/>
          </a:solidFill>
          <a:ln/>
        </p:spPr>
      </p:sp>
      <p:sp>
        <p:nvSpPr>
          <p:cNvPr id="26" name="Text 24"/>
          <p:cNvSpPr/>
          <p:nvPr/>
        </p:nvSpPr>
        <p:spPr>
          <a:xfrm>
            <a:off x="704088" y="53858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280160" y="5303520"/>
            <a:ext cx="4206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450" dirty="0"/>
          </a:p>
        </p:txBody>
      </p:sp>
      <p:sp>
        <p:nvSpPr>
          <p:cNvPr id="28" name="Shape 26"/>
          <p:cNvSpPr/>
          <p:nvPr/>
        </p:nvSpPr>
        <p:spPr>
          <a:xfrm>
            <a:off x="6309360" y="1417320"/>
            <a:ext cx="5120640" cy="621792"/>
          </a:xfrm>
          <a:prstGeom prst="roundRect">
            <a:avLst>
              <a:gd name="adj" fmla="val 11765"/>
            </a:avLst>
          </a:prstGeom>
          <a:solidFill>
            <a:srgbClr val="F4F7FA"/>
          </a:solidFill>
          <a:ln/>
          <a:effectLst>
            <a:outerShdw sx="100000" sy="100000" kx="0" ky="0" algn="bl" rotWithShape="0" blurRad="76200" dist="25400" dir="5400000">
              <a:srgbClr val="9CA3AF">
                <a:alpha val="2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464808" y="1499616"/>
            <a:ext cx="457200" cy="457200"/>
          </a:xfrm>
          <a:prstGeom prst="ellipse">
            <a:avLst/>
          </a:prstGeom>
          <a:solidFill>
            <a:srgbClr val="0E8C6E"/>
          </a:solidFill>
          <a:ln/>
        </p:spPr>
      </p:sp>
      <p:sp>
        <p:nvSpPr>
          <p:cNvPr id="30" name="Text 28"/>
          <p:cNvSpPr/>
          <p:nvPr/>
        </p:nvSpPr>
        <p:spPr>
          <a:xfrm>
            <a:off x="6464808" y="14996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7040880" y="1417320"/>
            <a:ext cx="4206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Microservices</a:t>
            </a:r>
            <a:endParaRPr lang="en-US" sz="1450" dirty="0"/>
          </a:p>
        </p:txBody>
      </p:sp>
      <p:sp>
        <p:nvSpPr>
          <p:cNvPr id="32" name="Shape 30"/>
          <p:cNvSpPr/>
          <p:nvPr/>
        </p:nvSpPr>
        <p:spPr>
          <a:xfrm>
            <a:off x="6309360" y="2194560"/>
            <a:ext cx="5120640" cy="621792"/>
          </a:xfrm>
          <a:prstGeom prst="roundRect">
            <a:avLst>
              <a:gd name="adj" fmla="val 11765"/>
            </a:avLst>
          </a:prstGeom>
          <a:solidFill>
            <a:srgbClr val="F4F7FA"/>
          </a:solidFill>
          <a:ln/>
          <a:effectLst>
            <a:outerShdw sx="100000" sy="100000" kx="0" ky="0" algn="bl" rotWithShape="0" blurRad="76200" dist="25400" dir="5400000">
              <a:srgbClr val="9CA3AF">
                <a:alpha val="2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464808" y="2276856"/>
            <a:ext cx="457200" cy="457200"/>
          </a:xfrm>
          <a:prstGeom prst="ellipse">
            <a:avLst/>
          </a:prstGeom>
          <a:solidFill>
            <a:srgbClr val="0E8C6E"/>
          </a:solidFill>
          <a:ln/>
        </p:spPr>
      </p:sp>
      <p:sp>
        <p:nvSpPr>
          <p:cNvPr id="34" name="Text 32"/>
          <p:cNvSpPr/>
          <p:nvPr/>
        </p:nvSpPr>
        <p:spPr>
          <a:xfrm>
            <a:off x="6464808" y="22768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7040880" y="2194560"/>
            <a:ext cx="4206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UML &amp; Behavioral Diagrams</a:t>
            </a:r>
            <a:endParaRPr lang="en-US" sz="1450" dirty="0"/>
          </a:p>
        </p:txBody>
      </p:sp>
      <p:sp>
        <p:nvSpPr>
          <p:cNvPr id="36" name="Shape 34"/>
          <p:cNvSpPr/>
          <p:nvPr/>
        </p:nvSpPr>
        <p:spPr>
          <a:xfrm>
            <a:off x="6309360" y="2971800"/>
            <a:ext cx="5120640" cy="621792"/>
          </a:xfrm>
          <a:prstGeom prst="roundRect">
            <a:avLst>
              <a:gd name="adj" fmla="val 11765"/>
            </a:avLst>
          </a:prstGeom>
          <a:solidFill>
            <a:srgbClr val="F4F7FA"/>
          </a:solidFill>
          <a:ln/>
          <a:effectLst>
            <a:outerShdw sx="100000" sy="100000" kx="0" ky="0" algn="bl" rotWithShape="0" blurRad="76200" dist="25400" dir="5400000">
              <a:srgbClr val="9CA3AF">
                <a:alpha val="25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464808" y="3054096"/>
            <a:ext cx="457200" cy="457200"/>
          </a:xfrm>
          <a:prstGeom prst="ellipse">
            <a:avLst/>
          </a:prstGeom>
          <a:solidFill>
            <a:srgbClr val="0E8C6E"/>
          </a:solidFill>
          <a:ln/>
        </p:spPr>
      </p:sp>
      <p:sp>
        <p:nvSpPr>
          <p:cNvPr id="38" name="Text 36"/>
          <p:cNvSpPr/>
          <p:nvPr/>
        </p:nvSpPr>
        <p:spPr>
          <a:xfrm>
            <a:off x="6464808" y="30540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7040880" y="2971800"/>
            <a:ext cx="4206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Design</a:t>
            </a:r>
            <a:endParaRPr lang="en-US" sz="1450" dirty="0"/>
          </a:p>
        </p:txBody>
      </p:sp>
      <p:sp>
        <p:nvSpPr>
          <p:cNvPr id="40" name="Shape 38"/>
          <p:cNvSpPr/>
          <p:nvPr/>
        </p:nvSpPr>
        <p:spPr>
          <a:xfrm>
            <a:off x="6309360" y="3749040"/>
            <a:ext cx="5120640" cy="621792"/>
          </a:xfrm>
          <a:prstGeom prst="roundRect">
            <a:avLst>
              <a:gd name="adj" fmla="val 11765"/>
            </a:avLst>
          </a:prstGeom>
          <a:solidFill>
            <a:srgbClr val="F4F7FA"/>
          </a:solidFill>
          <a:ln/>
          <a:effectLst>
            <a:outerShdw sx="100000" sy="100000" kx="0" ky="0" algn="bl" rotWithShape="0" blurRad="76200" dist="25400" dir="5400000">
              <a:srgbClr val="9CA3AF">
                <a:alpha val="25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6464808" y="3831336"/>
            <a:ext cx="457200" cy="457200"/>
          </a:xfrm>
          <a:prstGeom prst="ellipse">
            <a:avLst/>
          </a:prstGeom>
          <a:solidFill>
            <a:srgbClr val="0E8C6E"/>
          </a:solidFill>
          <a:ln/>
        </p:spPr>
      </p:sp>
      <p:sp>
        <p:nvSpPr>
          <p:cNvPr id="42" name="Text 40"/>
          <p:cNvSpPr/>
          <p:nvPr/>
        </p:nvSpPr>
        <p:spPr>
          <a:xfrm>
            <a:off x="6464808" y="38313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500" dirty="0"/>
          </a:p>
        </p:txBody>
      </p:sp>
      <p:sp>
        <p:nvSpPr>
          <p:cNvPr id="43" name="Text 41"/>
          <p:cNvSpPr/>
          <p:nvPr/>
        </p:nvSpPr>
        <p:spPr>
          <a:xfrm>
            <a:off x="7040880" y="3749040"/>
            <a:ext cx="4206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1450" dirty="0"/>
          </a:p>
        </p:txBody>
      </p:sp>
      <p:sp>
        <p:nvSpPr>
          <p:cNvPr id="44" name="Shape 42"/>
          <p:cNvSpPr/>
          <p:nvPr/>
        </p:nvSpPr>
        <p:spPr>
          <a:xfrm>
            <a:off x="6309360" y="4526280"/>
            <a:ext cx="5120640" cy="621792"/>
          </a:xfrm>
          <a:prstGeom prst="roundRect">
            <a:avLst>
              <a:gd name="adj" fmla="val 11765"/>
            </a:avLst>
          </a:prstGeom>
          <a:solidFill>
            <a:srgbClr val="F4F7FA"/>
          </a:solidFill>
          <a:ln/>
          <a:effectLst>
            <a:outerShdw sx="100000" sy="100000" kx="0" ky="0" algn="bl" rotWithShape="0" blurRad="76200" dist="25400" dir="5400000">
              <a:srgbClr val="9CA3AF">
                <a:alpha val="25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6464808" y="4608576"/>
            <a:ext cx="457200" cy="457200"/>
          </a:xfrm>
          <a:prstGeom prst="ellipse">
            <a:avLst/>
          </a:prstGeom>
          <a:solidFill>
            <a:srgbClr val="0E8C6E"/>
          </a:solidFill>
          <a:ln/>
        </p:spPr>
      </p:sp>
      <p:sp>
        <p:nvSpPr>
          <p:cNvPr id="46" name="Text 44"/>
          <p:cNvSpPr/>
          <p:nvPr/>
        </p:nvSpPr>
        <p:spPr>
          <a:xfrm>
            <a:off x="6464808" y="46085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500" dirty="0"/>
          </a:p>
        </p:txBody>
      </p:sp>
      <p:sp>
        <p:nvSpPr>
          <p:cNvPr id="47" name="Text 45"/>
          <p:cNvSpPr/>
          <p:nvPr/>
        </p:nvSpPr>
        <p:spPr>
          <a:xfrm>
            <a:off x="7040880" y="4526280"/>
            <a:ext cx="4206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Architecture</a:t>
            </a:r>
            <a:endParaRPr lang="en-US" sz="1450" dirty="0"/>
          </a:p>
        </p:txBody>
      </p:sp>
      <p:sp>
        <p:nvSpPr>
          <p:cNvPr id="48" name="Shape 46"/>
          <p:cNvSpPr/>
          <p:nvPr/>
        </p:nvSpPr>
        <p:spPr>
          <a:xfrm>
            <a:off x="6309360" y="5303520"/>
            <a:ext cx="5120640" cy="621792"/>
          </a:xfrm>
          <a:prstGeom prst="roundRect">
            <a:avLst>
              <a:gd name="adj" fmla="val 11765"/>
            </a:avLst>
          </a:prstGeom>
          <a:solidFill>
            <a:srgbClr val="F4F7FA"/>
          </a:solidFill>
          <a:ln/>
          <a:effectLst>
            <a:outerShdw sx="100000" sy="100000" kx="0" ky="0" algn="bl" rotWithShape="0" blurRad="76200" dist="25400" dir="5400000">
              <a:srgbClr val="9CA3AF">
                <a:alpha val="25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6464808" y="5385816"/>
            <a:ext cx="457200" cy="457200"/>
          </a:xfrm>
          <a:prstGeom prst="ellipse">
            <a:avLst/>
          </a:prstGeom>
          <a:solidFill>
            <a:srgbClr val="0E8C6E"/>
          </a:solidFill>
          <a:ln/>
        </p:spPr>
      </p:sp>
      <p:sp>
        <p:nvSpPr>
          <p:cNvPr id="50" name="Text 48"/>
          <p:cNvSpPr/>
          <p:nvPr/>
        </p:nvSpPr>
        <p:spPr>
          <a:xfrm>
            <a:off x="6464808" y="53858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500" dirty="0"/>
          </a:p>
        </p:txBody>
      </p:sp>
      <p:sp>
        <p:nvSpPr>
          <p:cNvPr id="51" name="Text 49"/>
          <p:cNvSpPr/>
          <p:nvPr/>
        </p:nvSpPr>
        <p:spPr>
          <a:xfrm>
            <a:off x="7040880" y="5303520"/>
            <a:ext cx="4206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 &amp; Conclusion</a:t>
            </a:r>
            <a:endParaRPr lang="en-US" sz="1450" dirty="0"/>
          </a:p>
        </p:txBody>
      </p:sp>
      <p:sp>
        <p:nvSpPr>
          <p:cNvPr id="52" name="Text 50"/>
          <p:cNvSpPr/>
          <p:nvPr/>
        </p:nvSpPr>
        <p:spPr>
          <a:xfrm>
            <a:off x="457200" y="651052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ReturnX  |  Smart Enterprise Lost &amp; Found Management System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11277295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8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Enterprises today have no structured way to manage lost and found items across offices — resulting in wasted HR effort, slow recovery, and frustrated employees.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2542032" cy="3291840"/>
          </a:xfrm>
          <a:prstGeom prst="roundRect">
            <a:avLst>
              <a:gd name="adj" fmla="val 2878"/>
            </a:avLst>
          </a:prstGeom>
          <a:solidFill>
            <a:srgbClr val="F4F7FA"/>
          </a:solidFill>
          <a:ln/>
          <a:effectLst>
            <a:outerShdw sx="100000" sy="100000" kx="0" ky="0" algn="bl" rotWithShape="0" blurRad="76200" dist="25400" dir="5400000">
              <a:srgbClr val="9CA3AF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431036" y="2628900"/>
            <a:ext cx="777240" cy="777240"/>
          </a:xfrm>
          <a:prstGeom prst="ellipse">
            <a:avLst/>
          </a:prstGeom>
          <a:solidFill>
            <a:srgbClr val="0B3D5C"/>
          </a:solidFill>
          <a:ln/>
        </p:spPr>
      </p:sp>
      <p:sp>
        <p:nvSpPr>
          <p:cNvPr id="7" name="Text 5"/>
          <p:cNvSpPr/>
          <p:nvPr/>
        </p:nvSpPr>
        <p:spPr>
          <a:xfrm>
            <a:off x="1431036" y="26289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✉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713232" y="3611880"/>
            <a:ext cx="2212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Scattered Communication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49808" y="4160520"/>
            <a:ext cx="2139696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live in emails, chats &amp; word of mouth with no single source of truth.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319272" y="2331720"/>
            <a:ext cx="2542032" cy="3291840"/>
          </a:xfrm>
          <a:prstGeom prst="roundRect">
            <a:avLst>
              <a:gd name="adj" fmla="val 2878"/>
            </a:avLst>
          </a:prstGeom>
          <a:solidFill>
            <a:srgbClr val="F4F7FA"/>
          </a:solidFill>
          <a:ln/>
          <a:effectLst>
            <a:outerShdw sx="100000" sy="100000" kx="0" ky="0" algn="bl" rotWithShape="0" blurRad="76200" dist="25400" dir="5400000">
              <a:srgbClr val="9CA3AF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201668" y="2628900"/>
            <a:ext cx="777240" cy="777240"/>
          </a:xfrm>
          <a:prstGeom prst="ellipse">
            <a:avLst/>
          </a:prstGeom>
          <a:solidFill>
            <a:srgbClr val="0E8C6E"/>
          </a:solidFill>
          <a:ln/>
        </p:spPr>
      </p:sp>
      <p:sp>
        <p:nvSpPr>
          <p:cNvPr id="12" name="Text 10"/>
          <p:cNvSpPr/>
          <p:nvPr/>
        </p:nvSpPr>
        <p:spPr>
          <a:xfrm>
            <a:off x="4201668" y="26289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3483864" y="3611880"/>
            <a:ext cx="2212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Recovery Time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520440" y="4160520"/>
            <a:ext cx="2139696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matching between lost and found items takes days, not minutes.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089904" y="2331720"/>
            <a:ext cx="2542032" cy="3291840"/>
          </a:xfrm>
          <a:prstGeom prst="roundRect">
            <a:avLst>
              <a:gd name="adj" fmla="val 2878"/>
            </a:avLst>
          </a:prstGeom>
          <a:solidFill>
            <a:srgbClr val="F4F7FA"/>
          </a:solidFill>
          <a:ln/>
          <a:effectLst>
            <a:outerShdw sx="100000" sy="100000" kx="0" ky="0" algn="bl" rotWithShape="0" blurRad="76200" dist="25400" dir="5400000">
              <a:srgbClr val="9CA3AF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972300" y="2628900"/>
            <a:ext cx="777240" cy="777240"/>
          </a:xfrm>
          <a:prstGeom prst="ellipse">
            <a:avLst/>
          </a:prstGeom>
          <a:solidFill>
            <a:srgbClr val="0B3D5C"/>
          </a:solidFill>
          <a:ln/>
        </p:spPr>
      </p:sp>
      <p:sp>
        <p:nvSpPr>
          <p:cNvPr id="17" name="Text 15"/>
          <p:cNvSpPr/>
          <p:nvPr/>
        </p:nvSpPr>
        <p:spPr>
          <a:xfrm>
            <a:off x="6972300" y="26289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6254496" y="3611880"/>
            <a:ext cx="2212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Bottleneck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291072" y="4160520"/>
            <a:ext cx="2139696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report and claim routes through HR, consuming valuable admin time.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8860536" y="2331720"/>
            <a:ext cx="2542032" cy="3291840"/>
          </a:xfrm>
          <a:prstGeom prst="roundRect">
            <a:avLst>
              <a:gd name="adj" fmla="val 2878"/>
            </a:avLst>
          </a:prstGeom>
          <a:solidFill>
            <a:srgbClr val="F4F7FA"/>
          </a:solidFill>
          <a:ln/>
          <a:effectLst>
            <a:outerShdw sx="100000" sy="100000" kx="0" ky="0" algn="bl" rotWithShape="0" blurRad="76200" dist="25400" dir="5400000">
              <a:srgbClr val="9CA3AF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9742932" y="2628900"/>
            <a:ext cx="777240" cy="777240"/>
          </a:xfrm>
          <a:prstGeom prst="ellipse">
            <a:avLst/>
          </a:prstGeom>
          <a:solidFill>
            <a:srgbClr val="0E8C6E"/>
          </a:solidFill>
          <a:ln/>
        </p:spPr>
      </p:sp>
      <p:sp>
        <p:nvSpPr>
          <p:cNvPr id="22" name="Text 20"/>
          <p:cNvSpPr/>
          <p:nvPr/>
        </p:nvSpPr>
        <p:spPr>
          <a:xfrm>
            <a:off x="9742932" y="26289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📉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9025128" y="3611880"/>
            <a:ext cx="2212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Recovery Rate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061704" y="4160520"/>
            <a:ext cx="2139696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a central system, most lost items are never reunited with owners.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57200" y="651052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ReturnX  |  Smart Enterprise Lost &amp; Found Management System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277295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8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STATE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Challenges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2011680" cy="4206240"/>
          </a:xfrm>
          <a:prstGeom prst="roundRect">
            <a:avLst>
              <a:gd name="adj" fmla="val 3636"/>
            </a:avLst>
          </a:prstGeom>
          <a:solidFill>
            <a:srgbClr val="F4F7FA"/>
          </a:solidFill>
          <a:ln/>
          <a:effectLst>
            <a:outerShdw sx="100000" sy="100000" kx="0" ky="0" algn="bl" rotWithShape="0" blurRad="76200" dist="25400" dir="5400000">
              <a:srgbClr val="9CA3AF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211580" y="1851660"/>
            <a:ext cx="685800" cy="685800"/>
          </a:xfrm>
          <a:prstGeom prst="ellipse">
            <a:avLst/>
          </a:prstGeom>
          <a:solidFill>
            <a:srgbClr val="0B3D5C"/>
          </a:solidFill>
          <a:ln/>
        </p:spPr>
      </p:sp>
      <p:sp>
        <p:nvSpPr>
          <p:cNvPr id="6" name="Text 4"/>
          <p:cNvSpPr/>
          <p:nvPr/>
        </p:nvSpPr>
        <p:spPr>
          <a:xfrm>
            <a:off x="1211580" y="18516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22960" y="2743200"/>
            <a:ext cx="146304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76656" y="2926080"/>
            <a:ext cx="17556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Dependency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94944" y="3611880"/>
            <a:ext cx="1719072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lost &amp; found case requires manual HR involvement end-to-end.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761488" y="1554480"/>
            <a:ext cx="2011680" cy="4206240"/>
          </a:xfrm>
          <a:prstGeom prst="roundRect">
            <a:avLst>
              <a:gd name="adj" fmla="val 3636"/>
            </a:avLst>
          </a:prstGeom>
          <a:solidFill>
            <a:srgbClr val="EAF2F8"/>
          </a:solidFill>
          <a:ln/>
          <a:effectLst>
            <a:outerShdw sx="100000" sy="100000" kx="0" ky="0" algn="bl" rotWithShape="0" blurRad="76200" dist="25400" dir="5400000">
              <a:srgbClr val="9CA3AF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424428" y="1851660"/>
            <a:ext cx="685800" cy="685800"/>
          </a:xfrm>
          <a:prstGeom prst="ellipse">
            <a:avLst/>
          </a:prstGeom>
          <a:solidFill>
            <a:srgbClr val="0B3D5C"/>
          </a:solidFill>
          <a:ln/>
        </p:spPr>
      </p:sp>
      <p:sp>
        <p:nvSpPr>
          <p:cNvPr id="12" name="Text 10"/>
          <p:cNvSpPr/>
          <p:nvPr/>
        </p:nvSpPr>
        <p:spPr>
          <a:xfrm>
            <a:off x="3424428" y="18516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✋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035808" y="2743200"/>
            <a:ext cx="146304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889504" y="2926080"/>
            <a:ext cx="17556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Process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2907792" y="3611880"/>
            <a:ext cx="1719072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logs and spreadsheets slow down reporting and claiming.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974336" y="1554480"/>
            <a:ext cx="2011680" cy="4206240"/>
          </a:xfrm>
          <a:prstGeom prst="roundRect">
            <a:avLst>
              <a:gd name="adj" fmla="val 3636"/>
            </a:avLst>
          </a:prstGeom>
          <a:solidFill>
            <a:srgbClr val="F4F7FA"/>
          </a:solidFill>
          <a:ln/>
          <a:effectLst>
            <a:outerShdw sx="100000" sy="100000" kx="0" ky="0" algn="bl" rotWithShape="0" blurRad="76200" dist="25400" dir="5400000">
              <a:srgbClr val="9CA3AF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637276" y="1851660"/>
            <a:ext cx="685800" cy="685800"/>
          </a:xfrm>
          <a:prstGeom prst="ellipse">
            <a:avLst/>
          </a:prstGeom>
          <a:solidFill>
            <a:srgbClr val="0B3D5C"/>
          </a:solidFill>
          <a:ln/>
        </p:spPr>
      </p:sp>
      <p:sp>
        <p:nvSpPr>
          <p:cNvPr id="18" name="Text 16"/>
          <p:cNvSpPr/>
          <p:nvPr/>
        </p:nvSpPr>
        <p:spPr>
          <a:xfrm>
            <a:off x="5637276" y="18516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⌂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248656" y="2743200"/>
            <a:ext cx="146304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102352" y="2926080"/>
            <a:ext cx="17556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Central Repository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120640" y="3611880"/>
            <a:ext cx="1719072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system tracks items across departments or campuses.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7187184" y="1554480"/>
            <a:ext cx="2011680" cy="4206240"/>
          </a:xfrm>
          <a:prstGeom prst="roundRect">
            <a:avLst>
              <a:gd name="adj" fmla="val 3636"/>
            </a:avLst>
          </a:prstGeom>
          <a:solidFill>
            <a:srgbClr val="EAF2F8"/>
          </a:solidFill>
          <a:ln/>
          <a:effectLst>
            <a:outerShdw sx="100000" sy="100000" kx="0" ky="0" algn="bl" rotWithShape="0" blurRad="76200" dist="25400" dir="5400000">
              <a:srgbClr val="9CA3AF">
                <a:alpha val="2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850124" y="1851660"/>
            <a:ext cx="685800" cy="685800"/>
          </a:xfrm>
          <a:prstGeom prst="ellipse">
            <a:avLst/>
          </a:prstGeom>
          <a:solidFill>
            <a:srgbClr val="0B3D5C"/>
          </a:solidFill>
          <a:ln/>
        </p:spPr>
      </p:sp>
      <p:sp>
        <p:nvSpPr>
          <p:cNvPr id="24" name="Text 22"/>
          <p:cNvSpPr/>
          <p:nvPr/>
        </p:nvSpPr>
        <p:spPr>
          <a:xfrm>
            <a:off x="7850124" y="18516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7461504" y="2743200"/>
            <a:ext cx="146304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315200" y="2926080"/>
            <a:ext cx="17556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 Noise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7333488" y="3611880"/>
            <a:ext cx="1719072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 details get lost across email threads and chat groups.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9400032" y="1554480"/>
            <a:ext cx="2011680" cy="4206240"/>
          </a:xfrm>
          <a:prstGeom prst="roundRect">
            <a:avLst>
              <a:gd name="adj" fmla="val 3636"/>
            </a:avLst>
          </a:prstGeom>
          <a:solidFill>
            <a:srgbClr val="F4F7FA"/>
          </a:solidFill>
          <a:ln/>
          <a:effectLst>
            <a:outerShdw sx="100000" sy="100000" kx="0" ky="0" algn="bl" rotWithShape="0" blurRad="76200" dist="25400" dir="5400000">
              <a:srgbClr val="9CA3AF">
                <a:alpha val="2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10062972" y="1851660"/>
            <a:ext cx="685800" cy="685800"/>
          </a:xfrm>
          <a:prstGeom prst="ellipse">
            <a:avLst/>
          </a:prstGeom>
          <a:solidFill>
            <a:srgbClr val="0B3D5C"/>
          </a:solidFill>
          <a:ln/>
        </p:spPr>
      </p:sp>
      <p:sp>
        <p:nvSpPr>
          <p:cNvPr id="30" name="Text 28"/>
          <p:cNvSpPr/>
          <p:nvPr/>
        </p:nvSpPr>
        <p:spPr>
          <a:xfrm>
            <a:off x="10062972" y="18516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9674352" y="2743200"/>
            <a:ext cx="146304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528048" y="2926080"/>
            <a:ext cx="17556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Recovery Rate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9546336" y="3611880"/>
            <a:ext cx="1719072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Items go unclaimed simply because no one can find a match.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57200" y="651052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ReturnX  |  Smart Enterprise Lost &amp; Found Management System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277295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8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APPROACH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Solution — ReturnX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ReturnX is a centralized, microservices-based platform that lets employees report, search, claim, and recover lost items — with built-in chat, verification, and gamified rewards.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3429000" cy="1508760"/>
          </a:xfrm>
          <a:prstGeom prst="roundRect">
            <a:avLst>
              <a:gd name="adj" fmla="val 4848"/>
            </a:avLst>
          </a:prstGeom>
          <a:solidFill>
            <a:srgbClr val="F4F7FA"/>
          </a:solidFill>
          <a:ln/>
          <a:effectLst>
            <a:outerShdw sx="100000" sy="100000" kx="0" ky="0" algn="bl" rotWithShape="0" blurRad="76200" dist="25400" dir="5400000">
              <a:srgbClr val="9CA3AF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2766060"/>
            <a:ext cx="548640" cy="548640"/>
          </a:xfrm>
          <a:prstGeom prst="ellipse">
            <a:avLst/>
          </a:prstGeom>
          <a:solidFill>
            <a:srgbClr val="0E8C6E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7660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⌕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463040" y="245059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Search &amp; Match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463040" y="283464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Instantly search reported items with smart filters.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206240" y="2286000"/>
            <a:ext cx="3429000" cy="1508760"/>
          </a:xfrm>
          <a:prstGeom prst="roundRect">
            <a:avLst>
              <a:gd name="adj" fmla="val 4848"/>
            </a:avLst>
          </a:prstGeom>
          <a:solidFill>
            <a:srgbClr val="F4F7FA"/>
          </a:solidFill>
          <a:ln/>
          <a:effectLst>
            <a:outerShdw sx="100000" sy="100000" kx="0" ky="0" algn="bl" rotWithShape="0" blurRad="76200" dist="25400" dir="5400000">
              <a:srgbClr val="9CA3AF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434840" y="2766060"/>
            <a:ext cx="548640" cy="548640"/>
          </a:xfrm>
          <a:prstGeom prst="ellipse">
            <a:avLst/>
          </a:prstGeom>
          <a:solidFill>
            <a:srgbClr val="0E8C6E"/>
          </a:solidFill>
          <a:ln/>
        </p:spPr>
      </p:sp>
      <p:sp>
        <p:nvSpPr>
          <p:cNvPr id="12" name="Text 10"/>
          <p:cNvSpPr/>
          <p:nvPr/>
        </p:nvSpPr>
        <p:spPr>
          <a:xfrm>
            <a:off x="4434840" y="27660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120640" y="245059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In-App Chat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120640" y="283464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chat between finder and claimant for verification.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863840" y="2286000"/>
            <a:ext cx="3429000" cy="1508760"/>
          </a:xfrm>
          <a:prstGeom prst="roundRect">
            <a:avLst>
              <a:gd name="adj" fmla="val 4848"/>
            </a:avLst>
          </a:prstGeom>
          <a:solidFill>
            <a:srgbClr val="F4F7FA"/>
          </a:solidFill>
          <a:ln/>
          <a:effectLst>
            <a:outerShdw sx="100000" sy="100000" kx="0" ky="0" algn="bl" rotWithShape="0" blurRad="76200" dist="25400" dir="5400000">
              <a:srgbClr val="9CA3AF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092440" y="2766060"/>
            <a:ext cx="548640" cy="548640"/>
          </a:xfrm>
          <a:prstGeom prst="ellipse">
            <a:avLst/>
          </a:prstGeom>
          <a:solidFill>
            <a:srgbClr val="0E8C6E"/>
          </a:solidFill>
          <a:ln/>
        </p:spPr>
      </p:sp>
      <p:sp>
        <p:nvSpPr>
          <p:cNvPr id="17" name="Text 15"/>
          <p:cNvSpPr/>
          <p:nvPr/>
        </p:nvSpPr>
        <p:spPr>
          <a:xfrm>
            <a:off x="8092440" y="27660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778240" y="245059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 Verification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778240" y="283464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claim &amp; verification workflow prevents fraud.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8640" y="4023360"/>
            <a:ext cx="3429000" cy="1508760"/>
          </a:xfrm>
          <a:prstGeom prst="roundRect">
            <a:avLst>
              <a:gd name="adj" fmla="val 4848"/>
            </a:avLst>
          </a:prstGeom>
          <a:solidFill>
            <a:srgbClr val="F4F7FA"/>
          </a:solidFill>
          <a:ln/>
          <a:effectLst>
            <a:outerShdw sx="100000" sy="100000" kx="0" ky="0" algn="bl" rotWithShape="0" blurRad="76200" dist="25400" dir="5400000">
              <a:srgbClr val="9CA3AF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77240" y="4503420"/>
            <a:ext cx="548640" cy="548640"/>
          </a:xfrm>
          <a:prstGeom prst="ellipse">
            <a:avLst/>
          </a:prstGeom>
          <a:solidFill>
            <a:srgbClr val="0E8C6E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45034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463040" y="418795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Gamified Rewards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463040" y="457200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&amp; leaderboard motivate honest reporting.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206240" y="4023360"/>
            <a:ext cx="3429000" cy="1508760"/>
          </a:xfrm>
          <a:prstGeom prst="roundRect">
            <a:avLst>
              <a:gd name="adj" fmla="val 4848"/>
            </a:avLst>
          </a:prstGeom>
          <a:solidFill>
            <a:srgbClr val="F4F7FA"/>
          </a:solidFill>
          <a:ln/>
          <a:effectLst>
            <a:outerShdw sx="100000" sy="100000" kx="0" ky="0" algn="bl" rotWithShape="0" blurRad="76200" dist="25400" dir="5400000">
              <a:srgbClr val="9CA3AF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434840" y="4503420"/>
            <a:ext cx="548640" cy="548640"/>
          </a:xfrm>
          <a:prstGeom prst="ellipse">
            <a:avLst/>
          </a:prstGeom>
          <a:solidFill>
            <a:srgbClr val="0E8C6E"/>
          </a:solidFill>
          <a:ln/>
        </p:spPr>
      </p:sp>
      <p:sp>
        <p:nvSpPr>
          <p:cNvPr id="27" name="Text 25"/>
          <p:cNvSpPr/>
          <p:nvPr/>
        </p:nvSpPr>
        <p:spPr>
          <a:xfrm>
            <a:off x="4434840" y="45034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🔔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120640" y="418795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Alerts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120640" y="457200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notifications on matches and status updates.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7863840" y="4023360"/>
            <a:ext cx="3429000" cy="1508760"/>
          </a:xfrm>
          <a:prstGeom prst="roundRect">
            <a:avLst>
              <a:gd name="adj" fmla="val 4848"/>
            </a:avLst>
          </a:prstGeom>
          <a:solidFill>
            <a:srgbClr val="F4F7FA"/>
          </a:solidFill>
          <a:ln/>
          <a:effectLst>
            <a:outerShdw sx="100000" sy="100000" kx="0" ky="0" algn="bl" rotWithShape="0" blurRad="76200" dist="25400" dir="5400000">
              <a:srgbClr val="9CA3AF">
                <a:alpha val="2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8092440" y="4503420"/>
            <a:ext cx="548640" cy="548640"/>
          </a:xfrm>
          <a:prstGeom prst="ellipse">
            <a:avLst/>
          </a:prstGeom>
          <a:solidFill>
            <a:srgbClr val="0E8C6E"/>
          </a:solidFill>
          <a:ln/>
        </p:spPr>
      </p:sp>
      <p:sp>
        <p:nvSpPr>
          <p:cNvPr id="32" name="Text 30"/>
          <p:cNvSpPr/>
          <p:nvPr/>
        </p:nvSpPr>
        <p:spPr>
          <a:xfrm>
            <a:off x="8092440" y="45034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☁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8778240" y="418795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Cloud-Native Scale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8778240" y="457200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Microservices architecture scales across the enterprise.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457200" y="651052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ReturnX  |  Smart Enterprise Lost &amp; Found Management System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277295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8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Value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2542032" cy="4114800"/>
          </a:xfrm>
          <a:prstGeom prst="roundRect">
            <a:avLst>
              <a:gd name="adj" fmla="val 3597"/>
            </a:avLst>
          </a:prstGeom>
          <a:solidFill>
            <a:srgbClr val="0B3D5C"/>
          </a:solidFill>
          <a:ln/>
        </p:spPr>
      </p:sp>
      <p:sp>
        <p:nvSpPr>
          <p:cNvPr id="5" name="Shape 3"/>
          <p:cNvSpPr/>
          <p:nvPr/>
        </p:nvSpPr>
        <p:spPr>
          <a:xfrm>
            <a:off x="1408176" y="2103120"/>
            <a:ext cx="822960" cy="8229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1408176" y="21031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731520" y="3200400"/>
            <a:ext cx="21762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Excellence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777240" y="3931920"/>
            <a:ext cx="208483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6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Removes manual HR overhead through full workflow automation.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19272" y="1645920"/>
            <a:ext cx="2542032" cy="4114800"/>
          </a:xfrm>
          <a:prstGeom prst="roundRect">
            <a:avLst>
              <a:gd name="adj" fmla="val 3597"/>
            </a:avLst>
          </a:prstGeom>
          <a:solidFill>
            <a:srgbClr val="0E8C6E"/>
          </a:solidFill>
          <a:ln/>
        </p:spPr>
      </p:sp>
      <p:sp>
        <p:nvSpPr>
          <p:cNvPr id="10" name="Shape 8"/>
          <p:cNvSpPr/>
          <p:nvPr/>
        </p:nvSpPr>
        <p:spPr>
          <a:xfrm>
            <a:off x="4178808" y="2103120"/>
            <a:ext cx="822960" cy="8229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4178808" y="21031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E8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3502152" y="3200400"/>
            <a:ext cx="21762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Recovery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3547872" y="3931920"/>
            <a:ext cx="208483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6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matching cuts recovery time from days to minutes.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089904" y="1645920"/>
            <a:ext cx="2542032" cy="4114800"/>
          </a:xfrm>
          <a:prstGeom prst="roundRect">
            <a:avLst>
              <a:gd name="adj" fmla="val 3597"/>
            </a:avLst>
          </a:prstGeom>
          <a:solidFill>
            <a:srgbClr val="0B3D5C"/>
          </a:solidFill>
          <a:ln/>
        </p:spPr>
      </p:sp>
      <p:sp>
        <p:nvSpPr>
          <p:cNvPr id="15" name="Shape 13"/>
          <p:cNvSpPr/>
          <p:nvPr/>
        </p:nvSpPr>
        <p:spPr>
          <a:xfrm>
            <a:off x="6949440" y="2103120"/>
            <a:ext cx="822960" cy="8229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6949440" y="21031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🤝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6272784" y="3200400"/>
            <a:ext cx="21762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Engagement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6318504" y="3931920"/>
            <a:ext cx="208483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6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trustworthy, transparent process improves employee experience.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860536" y="1645920"/>
            <a:ext cx="2542032" cy="4114800"/>
          </a:xfrm>
          <a:prstGeom prst="roundRect">
            <a:avLst>
              <a:gd name="adj" fmla="val 3597"/>
            </a:avLst>
          </a:prstGeom>
          <a:solidFill>
            <a:srgbClr val="0E8C6E"/>
          </a:solidFill>
          <a:ln/>
        </p:spPr>
      </p:sp>
      <p:sp>
        <p:nvSpPr>
          <p:cNvPr id="20" name="Shape 18"/>
          <p:cNvSpPr/>
          <p:nvPr/>
        </p:nvSpPr>
        <p:spPr>
          <a:xfrm>
            <a:off x="9720072" y="2103120"/>
            <a:ext cx="822960" cy="8229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9720072" y="21031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E8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9043416" y="3200400"/>
            <a:ext cx="21762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Gamification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9089136" y="3931920"/>
            <a:ext cx="208483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6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 points &amp; leaderboards drive honest, active participation.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651052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ReturnX  |  Smart Enterprise Lost &amp; Found Management System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77295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8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FLOW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Complete System Workflow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600200"/>
            <a:ext cx="1920240" cy="960120"/>
          </a:xfrm>
          <a:prstGeom prst="roundRect">
            <a:avLst>
              <a:gd name="adj" fmla="val 47619"/>
            </a:avLst>
          </a:prstGeom>
          <a:solidFill>
            <a:srgbClr val="F4F7FA"/>
          </a:solidFill>
          <a:ln w="19050">
            <a:solidFill>
              <a:srgbClr val="0B3D5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805940"/>
            <a:ext cx="548640" cy="548640"/>
          </a:xfrm>
          <a:prstGeom prst="ellipse">
            <a:avLst/>
          </a:prstGeom>
          <a:solidFill>
            <a:srgbClr val="0B3D5C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8059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371600" y="1600200"/>
            <a:ext cx="1005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70632" y="1600200"/>
            <a:ext cx="1920240" cy="960120"/>
          </a:xfrm>
          <a:prstGeom prst="roundRect">
            <a:avLst>
              <a:gd name="adj" fmla="val 47619"/>
            </a:avLst>
          </a:prstGeom>
          <a:solidFill>
            <a:srgbClr val="F4F7FA"/>
          </a:solidFill>
          <a:ln w="19050">
            <a:solidFill>
              <a:srgbClr val="0E8C6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953512" y="1805940"/>
            <a:ext cx="548640" cy="548640"/>
          </a:xfrm>
          <a:prstGeom prst="ellipse">
            <a:avLst/>
          </a:prstGeom>
          <a:solidFill>
            <a:srgbClr val="0E8C6E"/>
          </a:solidFill>
          <a:ln/>
        </p:spPr>
      </p:sp>
      <p:sp>
        <p:nvSpPr>
          <p:cNvPr id="10" name="Text 8"/>
          <p:cNvSpPr/>
          <p:nvPr/>
        </p:nvSpPr>
        <p:spPr>
          <a:xfrm>
            <a:off x="2953512" y="18059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547872" y="1600200"/>
            <a:ext cx="1005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Lost / Found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946904" y="1600200"/>
            <a:ext cx="1920240" cy="960120"/>
          </a:xfrm>
          <a:prstGeom prst="roundRect">
            <a:avLst>
              <a:gd name="adj" fmla="val 47619"/>
            </a:avLst>
          </a:prstGeom>
          <a:solidFill>
            <a:srgbClr val="F4F7FA"/>
          </a:solidFill>
          <a:ln w="19050">
            <a:solidFill>
              <a:srgbClr val="0B3D5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129784" y="1805940"/>
            <a:ext cx="548640" cy="548640"/>
          </a:xfrm>
          <a:prstGeom prst="ellipse">
            <a:avLst/>
          </a:prstGeom>
          <a:solidFill>
            <a:srgbClr val="0B3D5C"/>
          </a:solidFill>
          <a:ln/>
        </p:spPr>
      </p:sp>
      <p:sp>
        <p:nvSpPr>
          <p:cNvPr id="14" name="Text 12"/>
          <p:cNvSpPr/>
          <p:nvPr/>
        </p:nvSpPr>
        <p:spPr>
          <a:xfrm>
            <a:off x="5129784" y="18059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724144" y="1600200"/>
            <a:ext cx="1005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123176" y="1600200"/>
            <a:ext cx="1920240" cy="960120"/>
          </a:xfrm>
          <a:prstGeom prst="roundRect">
            <a:avLst>
              <a:gd name="adj" fmla="val 47619"/>
            </a:avLst>
          </a:prstGeom>
          <a:solidFill>
            <a:srgbClr val="F4F7FA"/>
          </a:solidFill>
          <a:ln w="19050">
            <a:solidFill>
              <a:srgbClr val="0E8C6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306056" y="1805940"/>
            <a:ext cx="548640" cy="548640"/>
          </a:xfrm>
          <a:prstGeom prst="ellipse">
            <a:avLst/>
          </a:prstGeom>
          <a:solidFill>
            <a:srgbClr val="0E8C6E"/>
          </a:solidFill>
          <a:ln/>
        </p:spPr>
      </p:sp>
      <p:sp>
        <p:nvSpPr>
          <p:cNvPr id="18" name="Text 16"/>
          <p:cNvSpPr/>
          <p:nvPr/>
        </p:nvSpPr>
        <p:spPr>
          <a:xfrm>
            <a:off x="7306056" y="18059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900416" y="1600200"/>
            <a:ext cx="1005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9299448" y="1600200"/>
            <a:ext cx="1920240" cy="960120"/>
          </a:xfrm>
          <a:prstGeom prst="roundRect">
            <a:avLst>
              <a:gd name="adj" fmla="val 47619"/>
            </a:avLst>
          </a:prstGeom>
          <a:solidFill>
            <a:srgbClr val="F4F7FA"/>
          </a:solidFill>
          <a:ln w="19050">
            <a:solidFill>
              <a:srgbClr val="0B3D5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482328" y="1805940"/>
            <a:ext cx="548640" cy="548640"/>
          </a:xfrm>
          <a:prstGeom prst="ellipse">
            <a:avLst/>
          </a:prstGeom>
          <a:solidFill>
            <a:srgbClr val="0B3D5C"/>
          </a:solidFill>
          <a:ln/>
        </p:spPr>
      </p:sp>
      <p:sp>
        <p:nvSpPr>
          <p:cNvPr id="22" name="Text 20"/>
          <p:cNvSpPr/>
          <p:nvPr/>
        </p:nvSpPr>
        <p:spPr>
          <a:xfrm>
            <a:off x="9482328" y="18059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0076688" y="1600200"/>
            <a:ext cx="1005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123176" y="3246120"/>
            <a:ext cx="1920240" cy="960120"/>
          </a:xfrm>
          <a:prstGeom prst="roundRect">
            <a:avLst>
              <a:gd name="adj" fmla="val 47619"/>
            </a:avLst>
          </a:prstGeom>
          <a:solidFill>
            <a:srgbClr val="F4F7FA"/>
          </a:solidFill>
          <a:ln w="19050">
            <a:solidFill>
              <a:srgbClr val="0E8C6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306056" y="3451860"/>
            <a:ext cx="548640" cy="548640"/>
          </a:xfrm>
          <a:prstGeom prst="ellipse">
            <a:avLst/>
          </a:prstGeom>
          <a:solidFill>
            <a:srgbClr val="0E8C6E"/>
          </a:solidFill>
          <a:ln/>
        </p:spPr>
      </p:sp>
      <p:sp>
        <p:nvSpPr>
          <p:cNvPr id="26" name="Text 24"/>
          <p:cNvSpPr/>
          <p:nvPr/>
        </p:nvSpPr>
        <p:spPr>
          <a:xfrm>
            <a:off x="7306056" y="34518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7900416" y="3246120"/>
            <a:ext cx="1005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946904" y="3246120"/>
            <a:ext cx="1920240" cy="960120"/>
          </a:xfrm>
          <a:prstGeom prst="roundRect">
            <a:avLst>
              <a:gd name="adj" fmla="val 47619"/>
            </a:avLst>
          </a:prstGeom>
          <a:solidFill>
            <a:srgbClr val="F4F7FA"/>
          </a:solidFill>
          <a:ln w="19050">
            <a:solidFill>
              <a:srgbClr val="0B3D5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129784" y="3451860"/>
            <a:ext cx="548640" cy="548640"/>
          </a:xfrm>
          <a:prstGeom prst="ellipse">
            <a:avLst/>
          </a:prstGeom>
          <a:solidFill>
            <a:srgbClr val="0B3D5C"/>
          </a:solidFill>
          <a:ln/>
        </p:spPr>
      </p:sp>
      <p:sp>
        <p:nvSpPr>
          <p:cNvPr id="30" name="Text 28"/>
          <p:cNvSpPr/>
          <p:nvPr/>
        </p:nvSpPr>
        <p:spPr>
          <a:xfrm>
            <a:off x="5129784" y="34518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5724144" y="3246120"/>
            <a:ext cx="1005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Meeting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2770632" y="3246120"/>
            <a:ext cx="1920240" cy="960120"/>
          </a:xfrm>
          <a:prstGeom prst="roundRect">
            <a:avLst>
              <a:gd name="adj" fmla="val 47619"/>
            </a:avLst>
          </a:prstGeom>
          <a:solidFill>
            <a:srgbClr val="F4F7FA"/>
          </a:solidFill>
          <a:ln w="19050">
            <a:solidFill>
              <a:srgbClr val="0E8C6E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953512" y="3451860"/>
            <a:ext cx="548640" cy="548640"/>
          </a:xfrm>
          <a:prstGeom prst="ellipse">
            <a:avLst/>
          </a:prstGeom>
          <a:solidFill>
            <a:srgbClr val="0E8C6E"/>
          </a:solidFill>
          <a:ln/>
        </p:spPr>
      </p:sp>
      <p:sp>
        <p:nvSpPr>
          <p:cNvPr id="34" name="Text 32"/>
          <p:cNvSpPr/>
          <p:nvPr/>
        </p:nvSpPr>
        <p:spPr>
          <a:xfrm>
            <a:off x="2953512" y="34518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3547872" y="3246120"/>
            <a:ext cx="1005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594360" y="3246120"/>
            <a:ext cx="1920240" cy="960120"/>
          </a:xfrm>
          <a:prstGeom prst="roundRect">
            <a:avLst>
              <a:gd name="adj" fmla="val 47619"/>
            </a:avLst>
          </a:prstGeom>
          <a:solidFill>
            <a:srgbClr val="F4F7FA"/>
          </a:solidFill>
          <a:ln w="19050">
            <a:solidFill>
              <a:srgbClr val="0B3D5C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77240" y="3451860"/>
            <a:ext cx="548640" cy="548640"/>
          </a:xfrm>
          <a:prstGeom prst="ellipse">
            <a:avLst/>
          </a:prstGeom>
          <a:solidFill>
            <a:srgbClr val="0B3D5C"/>
          </a:solidFill>
          <a:ln/>
        </p:spPr>
      </p:sp>
      <p:sp>
        <p:nvSpPr>
          <p:cNvPr id="38" name="Text 36"/>
          <p:cNvSpPr/>
          <p:nvPr/>
        </p:nvSpPr>
        <p:spPr>
          <a:xfrm>
            <a:off x="777240" y="34518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1371600" y="3246120"/>
            <a:ext cx="1005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2542032" y="1997964"/>
            <a:ext cx="201168" cy="164592"/>
          </a:xfrm>
          <a:prstGeom prst="rightArrow">
            <a:avLst/>
          </a:prstGeom>
          <a:solidFill>
            <a:srgbClr val="6B7280"/>
          </a:solidFill>
          <a:ln/>
        </p:spPr>
      </p:sp>
      <p:sp>
        <p:nvSpPr>
          <p:cNvPr id="41" name="Shape 39"/>
          <p:cNvSpPr/>
          <p:nvPr/>
        </p:nvSpPr>
        <p:spPr>
          <a:xfrm>
            <a:off x="4718304" y="1997964"/>
            <a:ext cx="201168" cy="164592"/>
          </a:xfrm>
          <a:prstGeom prst="rightArrow">
            <a:avLst/>
          </a:prstGeom>
          <a:solidFill>
            <a:srgbClr val="6B7280"/>
          </a:solidFill>
          <a:ln/>
        </p:spPr>
      </p:sp>
      <p:sp>
        <p:nvSpPr>
          <p:cNvPr id="42" name="Shape 40"/>
          <p:cNvSpPr/>
          <p:nvPr/>
        </p:nvSpPr>
        <p:spPr>
          <a:xfrm>
            <a:off x="6894576" y="1997964"/>
            <a:ext cx="201168" cy="164592"/>
          </a:xfrm>
          <a:prstGeom prst="rightArrow">
            <a:avLst/>
          </a:prstGeom>
          <a:solidFill>
            <a:srgbClr val="6B7280"/>
          </a:solidFill>
          <a:ln/>
        </p:spPr>
      </p:sp>
      <p:sp>
        <p:nvSpPr>
          <p:cNvPr id="43" name="Shape 41"/>
          <p:cNvSpPr/>
          <p:nvPr/>
        </p:nvSpPr>
        <p:spPr>
          <a:xfrm>
            <a:off x="9070848" y="1997964"/>
            <a:ext cx="201168" cy="164592"/>
          </a:xfrm>
          <a:prstGeom prst="rightArrow">
            <a:avLst/>
          </a:prstGeom>
          <a:solidFill>
            <a:srgbClr val="6B7280"/>
          </a:solidFill>
          <a:ln/>
        </p:spPr>
      </p:sp>
      <p:sp>
        <p:nvSpPr>
          <p:cNvPr id="44" name="Shape 42"/>
          <p:cNvSpPr/>
          <p:nvPr/>
        </p:nvSpPr>
        <p:spPr>
          <a:xfrm>
            <a:off x="10177272" y="2615184"/>
            <a:ext cx="164592" cy="576072"/>
          </a:xfrm>
          <a:prstGeom prst="downArrow">
            <a:avLst/>
          </a:prstGeom>
          <a:solidFill>
            <a:srgbClr val="6B7280"/>
          </a:solidFill>
          <a:ln/>
        </p:spPr>
      </p:sp>
      <p:sp>
        <p:nvSpPr>
          <p:cNvPr id="45" name="Shape 43"/>
          <p:cNvSpPr/>
          <p:nvPr/>
        </p:nvSpPr>
        <p:spPr>
          <a:xfrm>
            <a:off x="6894576" y="3643884"/>
            <a:ext cx="201168" cy="164592"/>
          </a:xfrm>
          <a:prstGeom prst="leftArrow">
            <a:avLst/>
          </a:prstGeom>
          <a:solidFill>
            <a:srgbClr val="6B7280"/>
          </a:solidFill>
          <a:ln/>
        </p:spPr>
      </p:sp>
      <p:sp>
        <p:nvSpPr>
          <p:cNvPr id="46" name="Shape 44"/>
          <p:cNvSpPr/>
          <p:nvPr/>
        </p:nvSpPr>
        <p:spPr>
          <a:xfrm>
            <a:off x="4718304" y="3643884"/>
            <a:ext cx="201168" cy="164592"/>
          </a:xfrm>
          <a:prstGeom prst="leftArrow">
            <a:avLst/>
          </a:prstGeom>
          <a:solidFill>
            <a:srgbClr val="6B7280"/>
          </a:solidFill>
          <a:ln/>
        </p:spPr>
      </p:sp>
      <p:sp>
        <p:nvSpPr>
          <p:cNvPr id="47" name="Shape 45"/>
          <p:cNvSpPr/>
          <p:nvPr/>
        </p:nvSpPr>
        <p:spPr>
          <a:xfrm>
            <a:off x="2542032" y="3643884"/>
            <a:ext cx="201168" cy="164592"/>
          </a:xfrm>
          <a:prstGeom prst="leftArrow">
            <a:avLst/>
          </a:prstGeom>
          <a:solidFill>
            <a:srgbClr val="6B7280"/>
          </a:solidFill>
          <a:ln/>
        </p:spPr>
      </p:sp>
      <p:sp>
        <p:nvSpPr>
          <p:cNvPr id="48" name="Text 46"/>
          <p:cNvSpPr/>
          <p:nvPr/>
        </p:nvSpPr>
        <p:spPr>
          <a:xfrm>
            <a:off x="457200" y="651052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ReturnX  |  Smart Enterprise Lost &amp; Found Management System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11277295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8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 Diagram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992728" y="1417320"/>
            <a:ext cx="4206240" cy="502920"/>
          </a:xfrm>
          <a:prstGeom prst="roundRect">
            <a:avLst>
              <a:gd name="adj" fmla="val 12727"/>
            </a:avLst>
          </a:prstGeom>
          <a:solidFill>
            <a:srgbClr val="0B3D5C"/>
          </a:solidFill>
          <a:ln/>
        </p:spPr>
      </p:sp>
      <p:sp>
        <p:nvSpPr>
          <p:cNvPr id="5" name="Text 3"/>
          <p:cNvSpPr/>
          <p:nvPr/>
        </p:nvSpPr>
        <p:spPr>
          <a:xfrm>
            <a:off x="3992728" y="141732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(Web / Mobile)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013552" y="1088136"/>
            <a:ext cx="164592" cy="274320"/>
          </a:xfrm>
          <a:prstGeom prst="downArrow">
            <a:avLst/>
          </a:prstGeom>
          <a:solidFill>
            <a:srgbClr val="6B7280"/>
          </a:solidFill>
          <a:ln/>
        </p:spPr>
      </p:sp>
      <p:sp>
        <p:nvSpPr>
          <p:cNvPr id="7" name="Shape 5"/>
          <p:cNvSpPr/>
          <p:nvPr/>
        </p:nvSpPr>
        <p:spPr>
          <a:xfrm>
            <a:off x="3992728" y="2304288"/>
            <a:ext cx="4206240" cy="502920"/>
          </a:xfrm>
          <a:prstGeom prst="roundRect">
            <a:avLst>
              <a:gd name="adj" fmla="val 12727"/>
            </a:avLst>
          </a:prstGeom>
          <a:solidFill>
            <a:srgbClr val="3E7CB1"/>
          </a:solidFill>
          <a:ln/>
        </p:spPr>
      </p:sp>
      <p:sp>
        <p:nvSpPr>
          <p:cNvPr id="8" name="Text 6"/>
          <p:cNvSpPr/>
          <p:nvPr/>
        </p:nvSpPr>
        <p:spPr>
          <a:xfrm>
            <a:off x="3992728" y="2304288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Frontend (SPA)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013552" y="1975104"/>
            <a:ext cx="164592" cy="274320"/>
          </a:xfrm>
          <a:prstGeom prst="downArrow">
            <a:avLst/>
          </a:prstGeom>
          <a:solidFill>
            <a:srgbClr val="6B7280"/>
          </a:solidFill>
          <a:ln/>
        </p:spPr>
      </p:sp>
      <p:sp>
        <p:nvSpPr>
          <p:cNvPr id="10" name="Shape 8"/>
          <p:cNvSpPr/>
          <p:nvPr/>
        </p:nvSpPr>
        <p:spPr>
          <a:xfrm>
            <a:off x="3992728" y="3191256"/>
            <a:ext cx="4206240" cy="502920"/>
          </a:xfrm>
          <a:prstGeom prst="roundRect">
            <a:avLst>
              <a:gd name="adj" fmla="val 12727"/>
            </a:avLst>
          </a:prstGeom>
          <a:solidFill>
            <a:srgbClr val="0E8C6E"/>
          </a:solidFill>
          <a:ln/>
        </p:spPr>
      </p:sp>
      <p:sp>
        <p:nvSpPr>
          <p:cNvPr id="11" name="Text 9"/>
          <p:cNvSpPr/>
          <p:nvPr/>
        </p:nvSpPr>
        <p:spPr>
          <a:xfrm>
            <a:off x="3992728" y="3191256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Gateway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013552" y="2862072"/>
            <a:ext cx="164592" cy="274320"/>
          </a:xfrm>
          <a:prstGeom prst="downArrow">
            <a:avLst/>
          </a:prstGeom>
          <a:solidFill>
            <a:srgbClr val="6B7280"/>
          </a:solidFill>
          <a:ln/>
        </p:spPr>
      </p:sp>
      <p:sp>
        <p:nvSpPr>
          <p:cNvPr id="13" name="Shape 11"/>
          <p:cNvSpPr/>
          <p:nvPr/>
        </p:nvSpPr>
        <p:spPr>
          <a:xfrm>
            <a:off x="3947008" y="4078224"/>
            <a:ext cx="2011680" cy="502920"/>
          </a:xfrm>
          <a:prstGeom prst="roundRect">
            <a:avLst>
              <a:gd name="adj" fmla="val 12727"/>
            </a:avLst>
          </a:prstGeom>
          <a:solidFill>
            <a:srgbClr val="5D8AA8"/>
          </a:solidFill>
          <a:ln/>
        </p:spPr>
      </p:sp>
      <p:sp>
        <p:nvSpPr>
          <p:cNvPr id="14" name="Text 12"/>
          <p:cNvSpPr/>
          <p:nvPr/>
        </p:nvSpPr>
        <p:spPr>
          <a:xfrm>
            <a:off x="3947008" y="4078224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Eureka (Service Registry)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233008" y="4078224"/>
            <a:ext cx="2011680" cy="502920"/>
          </a:xfrm>
          <a:prstGeom prst="roundRect">
            <a:avLst>
              <a:gd name="adj" fmla="val 12727"/>
            </a:avLst>
          </a:prstGeom>
          <a:solidFill>
            <a:srgbClr val="5D8AA8"/>
          </a:solidFill>
          <a:ln/>
        </p:spPr>
      </p:sp>
      <p:sp>
        <p:nvSpPr>
          <p:cNvPr id="16" name="Text 14"/>
          <p:cNvSpPr/>
          <p:nvPr/>
        </p:nvSpPr>
        <p:spPr>
          <a:xfrm>
            <a:off x="6233008" y="4078224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 Server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013552" y="4636008"/>
            <a:ext cx="164592" cy="274320"/>
          </a:xfrm>
          <a:prstGeom prst="downArrow">
            <a:avLst/>
          </a:prstGeom>
          <a:solidFill>
            <a:srgbClr val="6B7280"/>
          </a:solidFill>
          <a:ln/>
        </p:spPr>
      </p:sp>
      <p:sp>
        <p:nvSpPr>
          <p:cNvPr id="18" name="Shape 16"/>
          <p:cNvSpPr/>
          <p:nvPr/>
        </p:nvSpPr>
        <p:spPr>
          <a:xfrm>
            <a:off x="952348" y="4965192"/>
            <a:ext cx="1600200" cy="502920"/>
          </a:xfrm>
          <a:prstGeom prst="roundRect">
            <a:avLst>
              <a:gd name="adj" fmla="val 12727"/>
            </a:avLst>
          </a:prstGeom>
          <a:solidFill>
            <a:srgbClr val="0E8C6E"/>
          </a:solidFill>
          <a:ln/>
        </p:spPr>
      </p:sp>
      <p:sp>
        <p:nvSpPr>
          <p:cNvPr id="19" name="Text 17"/>
          <p:cNvSpPr/>
          <p:nvPr/>
        </p:nvSpPr>
        <p:spPr>
          <a:xfrm>
            <a:off x="952348" y="4965192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689708" y="4965192"/>
            <a:ext cx="1600200" cy="502920"/>
          </a:xfrm>
          <a:prstGeom prst="roundRect">
            <a:avLst>
              <a:gd name="adj" fmla="val 12727"/>
            </a:avLst>
          </a:prstGeom>
          <a:solidFill>
            <a:srgbClr val="0E8C6E"/>
          </a:solidFill>
          <a:ln/>
        </p:spPr>
      </p:sp>
      <p:sp>
        <p:nvSpPr>
          <p:cNvPr id="21" name="Text 19"/>
          <p:cNvSpPr/>
          <p:nvPr/>
        </p:nvSpPr>
        <p:spPr>
          <a:xfrm>
            <a:off x="2689708" y="4965192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427068" y="4965192"/>
            <a:ext cx="1600200" cy="502920"/>
          </a:xfrm>
          <a:prstGeom prst="roundRect">
            <a:avLst>
              <a:gd name="adj" fmla="val 12727"/>
            </a:avLst>
          </a:prstGeom>
          <a:solidFill>
            <a:srgbClr val="0E8C6E"/>
          </a:solidFill>
          <a:ln/>
        </p:spPr>
      </p:sp>
      <p:sp>
        <p:nvSpPr>
          <p:cNvPr id="23" name="Text 21"/>
          <p:cNvSpPr/>
          <p:nvPr/>
        </p:nvSpPr>
        <p:spPr>
          <a:xfrm>
            <a:off x="4427068" y="4965192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164428" y="4965192"/>
            <a:ext cx="1600200" cy="502920"/>
          </a:xfrm>
          <a:prstGeom prst="roundRect">
            <a:avLst>
              <a:gd name="adj" fmla="val 12727"/>
            </a:avLst>
          </a:prstGeom>
          <a:solidFill>
            <a:srgbClr val="0E8C6E"/>
          </a:solidFill>
          <a:ln/>
        </p:spPr>
      </p:sp>
      <p:sp>
        <p:nvSpPr>
          <p:cNvPr id="25" name="Text 23"/>
          <p:cNvSpPr/>
          <p:nvPr/>
        </p:nvSpPr>
        <p:spPr>
          <a:xfrm>
            <a:off x="6164428" y="4965192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901788" y="4965192"/>
            <a:ext cx="1600200" cy="502920"/>
          </a:xfrm>
          <a:prstGeom prst="roundRect">
            <a:avLst>
              <a:gd name="adj" fmla="val 12727"/>
            </a:avLst>
          </a:prstGeom>
          <a:solidFill>
            <a:srgbClr val="0E8C6E"/>
          </a:solidFill>
          <a:ln/>
        </p:spPr>
      </p:sp>
      <p:sp>
        <p:nvSpPr>
          <p:cNvPr id="27" name="Text 25"/>
          <p:cNvSpPr/>
          <p:nvPr/>
        </p:nvSpPr>
        <p:spPr>
          <a:xfrm>
            <a:off x="7901788" y="4965192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9639148" y="4965192"/>
            <a:ext cx="1600200" cy="502920"/>
          </a:xfrm>
          <a:prstGeom prst="roundRect">
            <a:avLst>
              <a:gd name="adj" fmla="val 12727"/>
            </a:avLst>
          </a:prstGeom>
          <a:solidFill>
            <a:srgbClr val="0E8C6E"/>
          </a:solidFill>
          <a:ln/>
        </p:spPr>
      </p:sp>
      <p:sp>
        <p:nvSpPr>
          <p:cNvPr id="29" name="Text 27"/>
          <p:cNvSpPr/>
          <p:nvPr/>
        </p:nvSpPr>
        <p:spPr>
          <a:xfrm>
            <a:off x="9639148" y="4965192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Notify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013552" y="5522976"/>
            <a:ext cx="164592" cy="274320"/>
          </a:xfrm>
          <a:prstGeom prst="downArrow">
            <a:avLst/>
          </a:prstGeom>
          <a:solidFill>
            <a:srgbClr val="6B7280"/>
          </a:solidFill>
          <a:ln/>
        </p:spPr>
      </p:sp>
      <p:sp>
        <p:nvSpPr>
          <p:cNvPr id="31" name="Shape 29"/>
          <p:cNvSpPr/>
          <p:nvPr/>
        </p:nvSpPr>
        <p:spPr>
          <a:xfrm>
            <a:off x="952348" y="5852160"/>
            <a:ext cx="1600200" cy="502920"/>
          </a:xfrm>
          <a:prstGeom prst="roundRect">
            <a:avLst>
              <a:gd name="adj" fmla="val 12727"/>
            </a:avLst>
          </a:prstGeom>
          <a:solidFill>
            <a:srgbClr val="0B3D5C"/>
          </a:solidFill>
          <a:ln/>
        </p:spPr>
      </p:sp>
      <p:sp>
        <p:nvSpPr>
          <p:cNvPr id="32" name="Text 30"/>
          <p:cNvSpPr/>
          <p:nvPr/>
        </p:nvSpPr>
        <p:spPr>
          <a:xfrm>
            <a:off x="952348" y="585216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DB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2689708" y="5852160"/>
            <a:ext cx="1600200" cy="502920"/>
          </a:xfrm>
          <a:prstGeom prst="roundRect">
            <a:avLst>
              <a:gd name="adj" fmla="val 12727"/>
            </a:avLst>
          </a:prstGeom>
          <a:solidFill>
            <a:srgbClr val="0B3D5C"/>
          </a:solidFill>
          <a:ln/>
        </p:spPr>
      </p:sp>
      <p:sp>
        <p:nvSpPr>
          <p:cNvPr id="34" name="Text 32"/>
          <p:cNvSpPr/>
          <p:nvPr/>
        </p:nvSpPr>
        <p:spPr>
          <a:xfrm>
            <a:off x="2689708" y="585216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DB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427068" y="5852160"/>
            <a:ext cx="1600200" cy="502920"/>
          </a:xfrm>
          <a:prstGeom prst="roundRect">
            <a:avLst>
              <a:gd name="adj" fmla="val 12727"/>
            </a:avLst>
          </a:prstGeom>
          <a:solidFill>
            <a:srgbClr val="0B3D5C"/>
          </a:solidFill>
          <a:ln/>
        </p:spPr>
      </p:sp>
      <p:sp>
        <p:nvSpPr>
          <p:cNvPr id="36" name="Text 34"/>
          <p:cNvSpPr/>
          <p:nvPr/>
        </p:nvSpPr>
        <p:spPr>
          <a:xfrm>
            <a:off x="4427068" y="585216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 DB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164428" y="5852160"/>
            <a:ext cx="1600200" cy="502920"/>
          </a:xfrm>
          <a:prstGeom prst="roundRect">
            <a:avLst>
              <a:gd name="adj" fmla="val 12727"/>
            </a:avLst>
          </a:prstGeom>
          <a:solidFill>
            <a:srgbClr val="0B3D5C"/>
          </a:solidFill>
          <a:ln/>
        </p:spPr>
      </p:sp>
      <p:sp>
        <p:nvSpPr>
          <p:cNvPr id="38" name="Text 36"/>
          <p:cNvSpPr/>
          <p:nvPr/>
        </p:nvSpPr>
        <p:spPr>
          <a:xfrm>
            <a:off x="6164428" y="585216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 DB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7901788" y="5852160"/>
            <a:ext cx="1600200" cy="502920"/>
          </a:xfrm>
          <a:prstGeom prst="roundRect">
            <a:avLst>
              <a:gd name="adj" fmla="val 12727"/>
            </a:avLst>
          </a:prstGeom>
          <a:solidFill>
            <a:srgbClr val="0B3D5C"/>
          </a:solidFill>
          <a:ln/>
        </p:spPr>
      </p:sp>
      <p:sp>
        <p:nvSpPr>
          <p:cNvPr id="40" name="Text 38"/>
          <p:cNvSpPr/>
          <p:nvPr/>
        </p:nvSpPr>
        <p:spPr>
          <a:xfrm>
            <a:off x="7901788" y="585216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 DB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9639148" y="5852160"/>
            <a:ext cx="1600200" cy="502920"/>
          </a:xfrm>
          <a:prstGeom prst="roundRect">
            <a:avLst>
              <a:gd name="adj" fmla="val 12727"/>
            </a:avLst>
          </a:prstGeom>
          <a:solidFill>
            <a:srgbClr val="0B3D5C"/>
          </a:solidFill>
          <a:ln/>
        </p:spPr>
      </p:sp>
      <p:sp>
        <p:nvSpPr>
          <p:cNvPr id="42" name="Text 40"/>
          <p:cNvSpPr/>
          <p:nvPr/>
        </p:nvSpPr>
        <p:spPr>
          <a:xfrm>
            <a:off x="9639148" y="585216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Notify DB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457200" y="651052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ReturnX  |  Smart Enterprise Lost &amp; Found Management System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11277295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8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BREAKDOWN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Microservices Architecture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3456432" cy="2148840"/>
          </a:xfrm>
          <a:prstGeom prst="roundRect">
            <a:avLst>
              <a:gd name="adj" fmla="val 3404"/>
            </a:avLst>
          </a:prstGeom>
          <a:solidFill>
            <a:srgbClr val="F4F7FA"/>
          </a:solidFill>
          <a:ln/>
          <a:effectLst>
            <a:outerShdw sx="100000" sy="100000" kx="0" ky="0" algn="bl" rotWithShape="0" blurRad="76200" dist="25400" dir="5400000">
              <a:srgbClr val="9CA3AF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508760"/>
            <a:ext cx="3456432" cy="73152"/>
          </a:xfrm>
          <a:prstGeom prst="roundRect">
            <a:avLst/>
          </a:prstGeom>
          <a:solidFill>
            <a:srgbClr val="0E8C6E"/>
          </a:solidFill>
          <a:ln/>
        </p:spPr>
      </p:sp>
      <p:sp>
        <p:nvSpPr>
          <p:cNvPr id="6" name="Shape 4"/>
          <p:cNvSpPr/>
          <p:nvPr/>
        </p:nvSpPr>
        <p:spPr>
          <a:xfrm>
            <a:off x="1911096" y="1920240"/>
            <a:ext cx="731520" cy="731520"/>
          </a:xfrm>
          <a:prstGeom prst="ellipse">
            <a:avLst/>
          </a:prstGeom>
          <a:solidFill>
            <a:srgbClr val="0B3D5C"/>
          </a:solidFill>
          <a:ln/>
        </p:spPr>
      </p:sp>
      <p:sp>
        <p:nvSpPr>
          <p:cNvPr id="7" name="Text 5"/>
          <p:cNvSpPr/>
          <p:nvPr/>
        </p:nvSpPr>
        <p:spPr>
          <a:xfrm>
            <a:off x="1911096" y="19202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31520" y="2788920"/>
            <a:ext cx="3090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Service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822960" y="3154680"/>
            <a:ext cx="2907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Login, JWT issuance, role-based access control.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233672" y="1508760"/>
            <a:ext cx="3456432" cy="2148840"/>
          </a:xfrm>
          <a:prstGeom prst="roundRect">
            <a:avLst>
              <a:gd name="adj" fmla="val 3404"/>
            </a:avLst>
          </a:prstGeom>
          <a:solidFill>
            <a:srgbClr val="F4F7FA"/>
          </a:solidFill>
          <a:ln/>
          <a:effectLst>
            <a:outerShdw sx="100000" sy="100000" kx="0" ky="0" algn="bl" rotWithShape="0" blurRad="76200" dist="25400" dir="5400000">
              <a:srgbClr val="9CA3AF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233672" y="1508760"/>
            <a:ext cx="3456432" cy="73152"/>
          </a:xfrm>
          <a:prstGeom prst="roundRect">
            <a:avLst/>
          </a:prstGeom>
          <a:solidFill>
            <a:srgbClr val="0E8C6E"/>
          </a:solidFill>
          <a:ln/>
        </p:spPr>
      </p:sp>
      <p:sp>
        <p:nvSpPr>
          <p:cNvPr id="12" name="Shape 10"/>
          <p:cNvSpPr/>
          <p:nvPr/>
        </p:nvSpPr>
        <p:spPr>
          <a:xfrm>
            <a:off x="5596128" y="1920240"/>
            <a:ext cx="731520" cy="731520"/>
          </a:xfrm>
          <a:prstGeom prst="ellipse">
            <a:avLst/>
          </a:prstGeom>
          <a:solidFill>
            <a:srgbClr val="0B3D5C"/>
          </a:solidFill>
          <a:ln/>
        </p:spPr>
      </p:sp>
      <p:sp>
        <p:nvSpPr>
          <p:cNvPr id="13" name="Text 11"/>
          <p:cNvSpPr/>
          <p:nvPr/>
        </p:nvSpPr>
        <p:spPr>
          <a:xfrm>
            <a:off x="5596128" y="19202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416552" y="2788920"/>
            <a:ext cx="3090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Service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507992" y="3154680"/>
            <a:ext cx="2907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profiles, departments, org data.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918704" y="1508760"/>
            <a:ext cx="3456432" cy="2148840"/>
          </a:xfrm>
          <a:prstGeom prst="roundRect">
            <a:avLst>
              <a:gd name="adj" fmla="val 3404"/>
            </a:avLst>
          </a:prstGeom>
          <a:solidFill>
            <a:srgbClr val="F4F7FA"/>
          </a:solidFill>
          <a:ln/>
          <a:effectLst>
            <a:outerShdw sx="100000" sy="100000" kx="0" ky="0" algn="bl" rotWithShape="0" blurRad="76200" dist="25400" dir="5400000">
              <a:srgbClr val="9CA3AF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918704" y="1508760"/>
            <a:ext cx="3456432" cy="73152"/>
          </a:xfrm>
          <a:prstGeom prst="roundRect">
            <a:avLst/>
          </a:prstGeom>
          <a:solidFill>
            <a:srgbClr val="0E8C6E"/>
          </a:solidFill>
          <a:ln/>
        </p:spPr>
      </p:sp>
      <p:sp>
        <p:nvSpPr>
          <p:cNvPr id="18" name="Shape 16"/>
          <p:cNvSpPr/>
          <p:nvPr/>
        </p:nvSpPr>
        <p:spPr>
          <a:xfrm>
            <a:off x="9281160" y="1920240"/>
            <a:ext cx="731520" cy="731520"/>
          </a:xfrm>
          <a:prstGeom prst="ellipse">
            <a:avLst/>
          </a:prstGeom>
          <a:solidFill>
            <a:srgbClr val="0B3D5C"/>
          </a:solidFill>
          <a:ln/>
        </p:spPr>
      </p:sp>
      <p:sp>
        <p:nvSpPr>
          <p:cNvPr id="19" name="Text 17"/>
          <p:cNvSpPr/>
          <p:nvPr/>
        </p:nvSpPr>
        <p:spPr>
          <a:xfrm>
            <a:off x="9281160" y="19202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8101584" y="2788920"/>
            <a:ext cx="3090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 Service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8193024" y="3154680"/>
            <a:ext cx="2907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&amp; found item catalogue and search.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48640" y="3931920"/>
            <a:ext cx="3456432" cy="2148840"/>
          </a:xfrm>
          <a:prstGeom prst="roundRect">
            <a:avLst>
              <a:gd name="adj" fmla="val 3404"/>
            </a:avLst>
          </a:prstGeom>
          <a:solidFill>
            <a:srgbClr val="F4F7FA"/>
          </a:solidFill>
          <a:ln/>
          <a:effectLst>
            <a:outerShdw sx="100000" sy="100000" kx="0" ky="0" algn="bl" rotWithShape="0" blurRad="76200" dist="25400" dir="5400000">
              <a:srgbClr val="9CA3AF">
                <a:alpha val="2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48640" y="3931920"/>
            <a:ext cx="3456432" cy="73152"/>
          </a:xfrm>
          <a:prstGeom prst="roundRect">
            <a:avLst/>
          </a:prstGeom>
          <a:solidFill>
            <a:srgbClr val="0E8C6E"/>
          </a:solidFill>
          <a:ln/>
        </p:spPr>
      </p:sp>
      <p:sp>
        <p:nvSpPr>
          <p:cNvPr id="24" name="Shape 22"/>
          <p:cNvSpPr/>
          <p:nvPr/>
        </p:nvSpPr>
        <p:spPr>
          <a:xfrm>
            <a:off x="1911096" y="4343400"/>
            <a:ext cx="731520" cy="731520"/>
          </a:xfrm>
          <a:prstGeom prst="ellipse">
            <a:avLst/>
          </a:prstGeom>
          <a:solidFill>
            <a:srgbClr val="0B3D5C"/>
          </a:solidFill>
          <a:ln/>
        </p:spPr>
      </p:sp>
      <p:sp>
        <p:nvSpPr>
          <p:cNvPr id="25" name="Text 23"/>
          <p:cNvSpPr/>
          <p:nvPr/>
        </p:nvSpPr>
        <p:spPr>
          <a:xfrm>
            <a:off x="1911096" y="43434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731520" y="5212080"/>
            <a:ext cx="3090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 Service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822960" y="5577840"/>
            <a:ext cx="2907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 submission, verification workflow.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233672" y="3931920"/>
            <a:ext cx="3456432" cy="2148840"/>
          </a:xfrm>
          <a:prstGeom prst="roundRect">
            <a:avLst>
              <a:gd name="adj" fmla="val 3404"/>
            </a:avLst>
          </a:prstGeom>
          <a:solidFill>
            <a:srgbClr val="F4F7FA"/>
          </a:solidFill>
          <a:ln/>
          <a:effectLst>
            <a:outerShdw sx="100000" sy="100000" kx="0" ky="0" algn="bl" rotWithShape="0" blurRad="76200" dist="25400" dir="5400000">
              <a:srgbClr val="9CA3AF">
                <a:alpha val="2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233672" y="3931920"/>
            <a:ext cx="3456432" cy="73152"/>
          </a:xfrm>
          <a:prstGeom prst="roundRect">
            <a:avLst/>
          </a:prstGeom>
          <a:solidFill>
            <a:srgbClr val="0E8C6E"/>
          </a:solidFill>
          <a:ln/>
        </p:spPr>
      </p:sp>
      <p:sp>
        <p:nvSpPr>
          <p:cNvPr id="30" name="Shape 28"/>
          <p:cNvSpPr/>
          <p:nvPr/>
        </p:nvSpPr>
        <p:spPr>
          <a:xfrm>
            <a:off x="5596128" y="4343400"/>
            <a:ext cx="731520" cy="731520"/>
          </a:xfrm>
          <a:prstGeom prst="ellipse">
            <a:avLst/>
          </a:prstGeom>
          <a:solidFill>
            <a:srgbClr val="0B3D5C"/>
          </a:solidFill>
          <a:ln/>
        </p:spPr>
      </p:sp>
      <p:sp>
        <p:nvSpPr>
          <p:cNvPr id="31" name="Text 29"/>
          <p:cNvSpPr/>
          <p:nvPr/>
        </p:nvSpPr>
        <p:spPr>
          <a:xfrm>
            <a:off x="5596128" y="43434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4416552" y="5212080"/>
            <a:ext cx="3090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 Service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4507992" y="5577840"/>
            <a:ext cx="2907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engine, leaderboard, incentives.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7918704" y="3931920"/>
            <a:ext cx="3456432" cy="2148840"/>
          </a:xfrm>
          <a:prstGeom prst="roundRect">
            <a:avLst>
              <a:gd name="adj" fmla="val 3404"/>
            </a:avLst>
          </a:prstGeom>
          <a:solidFill>
            <a:srgbClr val="F4F7FA"/>
          </a:solidFill>
          <a:ln/>
          <a:effectLst>
            <a:outerShdw sx="100000" sy="100000" kx="0" ky="0" algn="bl" rotWithShape="0" blurRad="76200" dist="25400" dir="5400000">
              <a:srgbClr val="9CA3AF">
                <a:alpha val="2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7918704" y="3931920"/>
            <a:ext cx="3456432" cy="73152"/>
          </a:xfrm>
          <a:prstGeom prst="roundRect">
            <a:avLst/>
          </a:prstGeom>
          <a:solidFill>
            <a:srgbClr val="0E8C6E"/>
          </a:solidFill>
          <a:ln/>
        </p:spPr>
      </p:sp>
      <p:sp>
        <p:nvSpPr>
          <p:cNvPr id="36" name="Shape 34"/>
          <p:cNvSpPr/>
          <p:nvPr/>
        </p:nvSpPr>
        <p:spPr>
          <a:xfrm>
            <a:off x="9281160" y="4343400"/>
            <a:ext cx="731520" cy="731520"/>
          </a:xfrm>
          <a:prstGeom prst="ellipse">
            <a:avLst/>
          </a:prstGeom>
          <a:solidFill>
            <a:srgbClr val="0B3D5C"/>
          </a:solidFill>
          <a:ln/>
        </p:spPr>
      </p:sp>
      <p:sp>
        <p:nvSpPr>
          <p:cNvPr id="37" name="Text 35"/>
          <p:cNvSpPr/>
          <p:nvPr/>
        </p:nvSpPr>
        <p:spPr>
          <a:xfrm>
            <a:off x="9281160" y="43434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🔔</a:t>
            </a:r>
            <a:endParaRPr lang="en-US" sz="2200" dirty="0"/>
          </a:p>
        </p:txBody>
      </p:sp>
      <p:sp>
        <p:nvSpPr>
          <p:cNvPr id="38" name="Text 36"/>
          <p:cNvSpPr/>
          <p:nvPr/>
        </p:nvSpPr>
        <p:spPr>
          <a:xfrm>
            <a:off x="8101584" y="5212080"/>
            <a:ext cx="3090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 Service</a:t>
            </a:r>
            <a:endParaRPr lang="en-US" sz="1350" dirty="0"/>
          </a:p>
        </p:txBody>
      </p:sp>
      <p:sp>
        <p:nvSpPr>
          <p:cNvPr id="39" name="Text 37"/>
          <p:cNvSpPr/>
          <p:nvPr/>
        </p:nvSpPr>
        <p:spPr>
          <a:xfrm>
            <a:off x="8193024" y="5577840"/>
            <a:ext cx="2907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&amp; in-app alerts on key events.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457200" y="651052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ReturnX  |  Smart Enterprise Lost &amp; Found Management System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11277295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8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UML BEHAVIORAL DIAGRAM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Activity Diagram — Claim Process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615184" y="1417320"/>
            <a:ext cx="256032" cy="256032"/>
          </a:xfrm>
          <a:prstGeom prst="ellipse">
            <a:avLst/>
          </a:prstGeom>
          <a:solidFill>
            <a:srgbClr val="1F2937"/>
          </a:solidFill>
          <a:ln/>
        </p:spPr>
      </p:sp>
      <p:sp>
        <p:nvSpPr>
          <p:cNvPr id="5" name="Shape 3"/>
          <p:cNvSpPr/>
          <p:nvPr/>
        </p:nvSpPr>
        <p:spPr>
          <a:xfrm>
            <a:off x="2688336" y="1673352"/>
            <a:ext cx="164592" cy="128016"/>
          </a:xfrm>
          <a:prstGeom prst="downArrow">
            <a:avLst/>
          </a:prstGeom>
          <a:solidFill>
            <a:srgbClr val="6B7280"/>
          </a:solidFill>
          <a:ln/>
        </p:spPr>
      </p:sp>
      <p:sp>
        <p:nvSpPr>
          <p:cNvPr id="6" name="Shape 4"/>
          <p:cNvSpPr/>
          <p:nvPr/>
        </p:nvSpPr>
        <p:spPr>
          <a:xfrm>
            <a:off x="1554480" y="1874520"/>
            <a:ext cx="2377440" cy="457200"/>
          </a:xfrm>
          <a:prstGeom prst="roundRect">
            <a:avLst/>
          </a:prstGeom>
          <a:solidFill>
            <a:srgbClr val="0B3D5C"/>
          </a:solidFill>
          <a:ln/>
        </p:spPr>
      </p:sp>
      <p:sp>
        <p:nvSpPr>
          <p:cNvPr id="7" name="Text 5"/>
          <p:cNvSpPr/>
          <p:nvPr/>
        </p:nvSpPr>
        <p:spPr>
          <a:xfrm>
            <a:off x="1554480" y="18745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Logs In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660904" y="2350008"/>
            <a:ext cx="164592" cy="164592"/>
          </a:xfrm>
          <a:prstGeom prst="downArrow">
            <a:avLst/>
          </a:prstGeom>
          <a:solidFill>
            <a:srgbClr val="6B7280"/>
          </a:solidFill>
          <a:ln/>
        </p:spPr>
      </p:sp>
      <p:sp>
        <p:nvSpPr>
          <p:cNvPr id="9" name="Shape 7"/>
          <p:cNvSpPr/>
          <p:nvPr/>
        </p:nvSpPr>
        <p:spPr>
          <a:xfrm>
            <a:off x="1554480" y="2624328"/>
            <a:ext cx="2377440" cy="457200"/>
          </a:xfrm>
          <a:prstGeom prst="roundRect">
            <a:avLst/>
          </a:prstGeom>
          <a:solidFill>
            <a:srgbClr val="3E7CB1"/>
          </a:solidFill>
          <a:ln/>
        </p:spPr>
      </p:sp>
      <p:sp>
        <p:nvSpPr>
          <p:cNvPr id="10" name="Text 8"/>
          <p:cNvSpPr/>
          <p:nvPr/>
        </p:nvSpPr>
        <p:spPr>
          <a:xfrm>
            <a:off x="1554480" y="262432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/ View Item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660904" y="3099816"/>
            <a:ext cx="164592" cy="164592"/>
          </a:xfrm>
          <a:prstGeom prst="downArrow">
            <a:avLst/>
          </a:prstGeom>
          <a:solidFill>
            <a:srgbClr val="6B7280"/>
          </a:solidFill>
          <a:ln/>
        </p:spPr>
      </p:sp>
      <p:sp>
        <p:nvSpPr>
          <p:cNvPr id="12" name="Shape 10"/>
          <p:cNvSpPr/>
          <p:nvPr/>
        </p:nvSpPr>
        <p:spPr>
          <a:xfrm>
            <a:off x="1554480" y="3374136"/>
            <a:ext cx="2377440" cy="457200"/>
          </a:xfrm>
          <a:prstGeom prst="roundRect">
            <a:avLst/>
          </a:prstGeom>
          <a:solidFill>
            <a:srgbClr val="0E8C6E"/>
          </a:solidFill>
          <a:ln/>
        </p:spPr>
      </p:sp>
      <p:sp>
        <p:nvSpPr>
          <p:cNvPr id="13" name="Text 11"/>
          <p:cNvSpPr/>
          <p:nvPr/>
        </p:nvSpPr>
        <p:spPr>
          <a:xfrm>
            <a:off x="1554480" y="3374136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Claim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660904" y="3849624"/>
            <a:ext cx="164592" cy="164592"/>
          </a:xfrm>
          <a:prstGeom prst="downArrow">
            <a:avLst/>
          </a:prstGeom>
          <a:solidFill>
            <a:srgbClr val="6B7280"/>
          </a:solidFill>
          <a:ln/>
        </p:spPr>
      </p:sp>
      <p:sp>
        <p:nvSpPr>
          <p:cNvPr id="15" name="Shape 13"/>
          <p:cNvSpPr/>
          <p:nvPr/>
        </p:nvSpPr>
        <p:spPr>
          <a:xfrm>
            <a:off x="1371600" y="4123944"/>
            <a:ext cx="2743200" cy="685800"/>
          </a:xfrm>
          <a:prstGeom prst="diamond">
            <a:avLst/>
          </a:prstGeom>
          <a:solidFill>
            <a:srgbClr val="F2C94C"/>
          </a:solidFill>
          <a:ln/>
        </p:spPr>
      </p:sp>
      <p:sp>
        <p:nvSpPr>
          <p:cNvPr id="16" name="Text 14"/>
          <p:cNvSpPr/>
          <p:nvPr/>
        </p:nvSpPr>
        <p:spPr>
          <a:xfrm>
            <a:off x="1371600" y="4123944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by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Owner?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660904" y="4828032"/>
            <a:ext cx="164592" cy="164592"/>
          </a:xfrm>
          <a:prstGeom prst="downArrow">
            <a:avLst/>
          </a:prstGeom>
          <a:solidFill>
            <a:srgbClr val="6B7280"/>
          </a:solidFill>
          <a:ln/>
        </p:spPr>
      </p:sp>
      <p:sp>
        <p:nvSpPr>
          <p:cNvPr id="18" name="Shape 16"/>
          <p:cNvSpPr/>
          <p:nvPr/>
        </p:nvSpPr>
        <p:spPr>
          <a:xfrm>
            <a:off x="1188720" y="5102352"/>
            <a:ext cx="3108960" cy="457200"/>
          </a:xfrm>
          <a:prstGeom prst="roundRect">
            <a:avLst/>
          </a:prstGeom>
          <a:solidFill>
            <a:srgbClr val="0E8C6E"/>
          </a:solidFill>
          <a:ln/>
        </p:spPr>
      </p:sp>
      <p:sp>
        <p:nvSpPr>
          <p:cNvPr id="19" name="Text 17"/>
          <p:cNvSpPr/>
          <p:nvPr/>
        </p:nvSpPr>
        <p:spPr>
          <a:xfrm>
            <a:off x="1188720" y="5102352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Arrange Meeting &amp; Return Item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660904" y="5577840"/>
            <a:ext cx="164592" cy="164592"/>
          </a:xfrm>
          <a:prstGeom prst="downArrow">
            <a:avLst/>
          </a:prstGeom>
          <a:solidFill>
            <a:srgbClr val="6B7280"/>
          </a:solidFill>
          <a:ln/>
        </p:spPr>
      </p:sp>
      <p:sp>
        <p:nvSpPr>
          <p:cNvPr id="21" name="Shape 19"/>
          <p:cNvSpPr/>
          <p:nvPr/>
        </p:nvSpPr>
        <p:spPr>
          <a:xfrm>
            <a:off x="1554480" y="5852160"/>
            <a:ext cx="2377440" cy="457200"/>
          </a:xfrm>
          <a:prstGeom prst="roundRect">
            <a:avLst/>
          </a:prstGeom>
          <a:solidFill>
            <a:srgbClr val="0B3D5C"/>
          </a:solidFill>
          <a:ln/>
        </p:spPr>
      </p:sp>
      <p:sp>
        <p:nvSpPr>
          <p:cNvPr id="22" name="Text 20"/>
          <p:cNvSpPr/>
          <p:nvPr/>
        </p:nvSpPr>
        <p:spPr>
          <a:xfrm>
            <a:off x="1554480" y="58521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Award Reward Points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660904" y="6327648"/>
            <a:ext cx="164592" cy="164592"/>
          </a:xfrm>
          <a:prstGeom prst="downArrow">
            <a:avLst/>
          </a:prstGeom>
          <a:solidFill>
            <a:srgbClr val="6B7280"/>
          </a:solidFill>
          <a:ln/>
        </p:spPr>
      </p:sp>
      <p:sp>
        <p:nvSpPr>
          <p:cNvPr id="24" name="Shape 22"/>
          <p:cNvSpPr/>
          <p:nvPr/>
        </p:nvSpPr>
        <p:spPr>
          <a:xfrm>
            <a:off x="2596896" y="6601968"/>
            <a:ext cx="292608" cy="29260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F293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660904" y="6665976"/>
            <a:ext cx="164592" cy="164592"/>
          </a:xfrm>
          <a:prstGeom prst="ellipse">
            <a:avLst/>
          </a:prstGeom>
          <a:solidFill>
            <a:srgbClr val="1F2937"/>
          </a:solidFill>
          <a:ln/>
        </p:spPr>
      </p:sp>
      <p:sp>
        <p:nvSpPr>
          <p:cNvPr id="26" name="Shape 24"/>
          <p:cNvSpPr/>
          <p:nvPr/>
        </p:nvSpPr>
        <p:spPr>
          <a:xfrm>
            <a:off x="4114800" y="5966460"/>
            <a:ext cx="457200" cy="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160520" y="56921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72000" y="5737860"/>
            <a:ext cx="1920240" cy="457200"/>
          </a:xfrm>
          <a:prstGeom prst="roundRect">
            <a:avLst>
              <a:gd name="adj" fmla="val 12000"/>
            </a:avLst>
          </a:prstGeom>
          <a:solidFill>
            <a:srgbClr val="C0392B"/>
          </a:solidFill>
          <a:ln/>
        </p:spPr>
      </p:sp>
      <p:sp>
        <p:nvSpPr>
          <p:cNvPr id="29" name="Text 27"/>
          <p:cNvSpPr/>
          <p:nvPr/>
        </p:nvSpPr>
        <p:spPr>
          <a:xfrm>
            <a:off x="4572000" y="57378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 Rejected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949440" y="1417320"/>
            <a:ext cx="4663440" cy="4206240"/>
          </a:xfrm>
          <a:prstGeom prst="roundRect">
            <a:avLst>
              <a:gd name="adj" fmla="val 1739"/>
            </a:avLst>
          </a:prstGeom>
          <a:solidFill>
            <a:srgbClr val="F4F7FA"/>
          </a:solidFill>
          <a:ln/>
        </p:spPr>
      </p:sp>
      <p:sp>
        <p:nvSpPr>
          <p:cNvPr id="31" name="Text 29"/>
          <p:cNvSpPr/>
          <p:nvPr/>
        </p:nvSpPr>
        <p:spPr>
          <a:xfrm>
            <a:off x="7223760" y="16459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the Diagram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7223760" y="2103120"/>
            <a:ext cx="41148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 filled circle = initial (start) node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Rounded rectangles = system activities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Yellow diamond = decision point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 conditions label each outgoing branch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Bordered circle = final (end) node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Rejected claims exit the flow without a reward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57200" y="651052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ReturnX  |  Smart Enterprise Lost &amp; Found Management System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1277295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8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FLOW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Flow Diagram — Level 1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1554480" cy="640080"/>
          </a:xfrm>
          <a:prstGeom prst="rect">
            <a:avLst/>
          </a:prstGeom>
          <a:solidFill>
            <a:srgbClr val="0B3D5C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55448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57200" y="4937760"/>
            <a:ext cx="1554480" cy="640080"/>
          </a:xfrm>
          <a:prstGeom prst="rect">
            <a:avLst/>
          </a:prstGeom>
          <a:solidFill>
            <a:srgbClr val="0B3D5C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493776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2651760" y="1188720"/>
            <a:ext cx="1737360" cy="914400"/>
          </a:xfrm>
          <a:prstGeom prst="ellipse">
            <a:avLst/>
          </a:prstGeom>
          <a:solidFill>
            <a:srgbClr val="3E7CB1"/>
          </a:solidFill>
          <a:ln/>
        </p:spPr>
      </p:sp>
      <p:sp>
        <p:nvSpPr>
          <p:cNvPr id="9" name="Text 7"/>
          <p:cNvSpPr/>
          <p:nvPr/>
        </p:nvSpPr>
        <p:spPr>
          <a:xfrm>
            <a:off x="2651760" y="118872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937760" y="822960"/>
            <a:ext cx="1737360" cy="914400"/>
          </a:xfrm>
          <a:prstGeom prst="ellipse">
            <a:avLst/>
          </a:prstGeom>
          <a:solidFill>
            <a:srgbClr val="0E8C6E"/>
          </a:solidFill>
          <a:ln/>
        </p:spPr>
      </p:sp>
      <p:sp>
        <p:nvSpPr>
          <p:cNvPr id="11" name="Text 9"/>
          <p:cNvSpPr/>
          <p:nvPr/>
        </p:nvSpPr>
        <p:spPr>
          <a:xfrm>
            <a:off x="4937760" y="82296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 Service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937760" y="2011680"/>
            <a:ext cx="1737360" cy="914400"/>
          </a:xfrm>
          <a:prstGeom prst="ellipse">
            <a:avLst/>
          </a:prstGeom>
          <a:solidFill>
            <a:srgbClr val="0E8C6E"/>
          </a:solidFill>
          <a:ln/>
        </p:spPr>
      </p:sp>
      <p:sp>
        <p:nvSpPr>
          <p:cNvPr id="13" name="Text 11"/>
          <p:cNvSpPr/>
          <p:nvPr/>
        </p:nvSpPr>
        <p:spPr>
          <a:xfrm>
            <a:off x="4937760" y="201168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 Service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223760" y="1188720"/>
            <a:ext cx="1737360" cy="914400"/>
          </a:xfrm>
          <a:prstGeom prst="ellipse">
            <a:avLst/>
          </a:prstGeom>
          <a:solidFill>
            <a:srgbClr val="0E8C6E"/>
          </a:solidFill>
          <a:ln/>
        </p:spPr>
      </p:sp>
      <p:sp>
        <p:nvSpPr>
          <p:cNvPr id="15" name="Text 13"/>
          <p:cNvSpPr/>
          <p:nvPr/>
        </p:nvSpPr>
        <p:spPr>
          <a:xfrm>
            <a:off x="7223760" y="118872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 Service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937760" y="3200400"/>
            <a:ext cx="1737360" cy="914400"/>
          </a:xfrm>
          <a:prstGeom prst="ellipse">
            <a:avLst/>
          </a:prstGeom>
          <a:solidFill>
            <a:srgbClr val="3E7CB1"/>
          </a:solidFill>
          <a:ln/>
        </p:spPr>
      </p:sp>
      <p:sp>
        <p:nvSpPr>
          <p:cNvPr id="17" name="Text 15"/>
          <p:cNvSpPr/>
          <p:nvPr/>
        </p:nvSpPr>
        <p:spPr>
          <a:xfrm>
            <a:off x="4937760" y="320040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 Service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651760" y="4892040"/>
            <a:ext cx="1737360" cy="548640"/>
          </a:xfrm>
          <a:prstGeom prst="rect">
            <a:avLst/>
          </a:prstGeom>
          <a:solidFill>
            <a:srgbClr val="FFFFFF"/>
          </a:solidFill>
          <a:ln w="19050">
            <a:solidFill>
              <a:srgbClr val="0B3D5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651760" y="4892040"/>
            <a:ext cx="1737360" cy="0"/>
          </a:xfrm>
          <a:prstGeom prst="line">
            <a:avLst/>
          </a:prstGeom>
          <a:noFill/>
          <a:ln w="19050">
            <a:solidFill>
              <a:srgbClr val="0B3D5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651760" y="5440680"/>
            <a:ext cx="1737360" cy="0"/>
          </a:xfrm>
          <a:prstGeom prst="line">
            <a:avLst/>
          </a:prstGeom>
          <a:noFill/>
          <a:ln w="19050">
            <a:solidFill>
              <a:srgbClr val="0B3D5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651760" y="489204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  Auth DB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937760" y="4892040"/>
            <a:ext cx="1737360" cy="548640"/>
          </a:xfrm>
          <a:prstGeom prst="rect">
            <a:avLst/>
          </a:prstGeom>
          <a:solidFill>
            <a:srgbClr val="FFFFFF"/>
          </a:solidFill>
          <a:ln w="19050">
            <a:solidFill>
              <a:srgbClr val="0B3D5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937760" y="4892040"/>
            <a:ext cx="1737360" cy="0"/>
          </a:xfrm>
          <a:prstGeom prst="line">
            <a:avLst/>
          </a:prstGeom>
          <a:noFill/>
          <a:ln w="19050">
            <a:solidFill>
              <a:srgbClr val="0B3D5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937760" y="5440680"/>
            <a:ext cx="1737360" cy="0"/>
          </a:xfrm>
          <a:prstGeom prst="line">
            <a:avLst/>
          </a:prstGeom>
          <a:noFill/>
          <a:ln w="19050">
            <a:solidFill>
              <a:srgbClr val="0B3D5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37760" y="489204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D2  Item / Claim DB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223760" y="4892040"/>
            <a:ext cx="1737360" cy="548640"/>
          </a:xfrm>
          <a:prstGeom prst="rect">
            <a:avLst/>
          </a:prstGeom>
          <a:solidFill>
            <a:srgbClr val="FFFFFF"/>
          </a:solidFill>
          <a:ln w="19050">
            <a:solidFill>
              <a:srgbClr val="0B3D5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223760" y="4892040"/>
            <a:ext cx="1737360" cy="0"/>
          </a:xfrm>
          <a:prstGeom prst="line">
            <a:avLst/>
          </a:prstGeom>
          <a:noFill/>
          <a:ln w="19050">
            <a:solidFill>
              <a:srgbClr val="0B3D5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223760" y="5440680"/>
            <a:ext cx="1737360" cy="0"/>
          </a:xfrm>
          <a:prstGeom prst="line">
            <a:avLst/>
          </a:prstGeom>
          <a:noFill/>
          <a:ln w="19050">
            <a:solidFill>
              <a:srgbClr val="0B3D5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223760" y="489204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D3  Reward DB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9509760" y="4892040"/>
            <a:ext cx="1737360" cy="548640"/>
          </a:xfrm>
          <a:prstGeom prst="rect">
            <a:avLst/>
          </a:prstGeom>
          <a:solidFill>
            <a:srgbClr val="FFFFFF"/>
          </a:solidFill>
          <a:ln w="19050">
            <a:solidFill>
              <a:srgbClr val="0B3D5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509760" y="4892040"/>
            <a:ext cx="1737360" cy="0"/>
          </a:xfrm>
          <a:prstGeom prst="line">
            <a:avLst/>
          </a:prstGeom>
          <a:noFill/>
          <a:ln w="19050">
            <a:solidFill>
              <a:srgbClr val="0B3D5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509760" y="5440680"/>
            <a:ext cx="1737360" cy="0"/>
          </a:xfrm>
          <a:prstGeom prst="line">
            <a:avLst/>
          </a:prstGeom>
          <a:noFill/>
          <a:ln w="19050">
            <a:solidFill>
              <a:srgbClr val="0B3D5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509760" y="489204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D4  Notify DB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9509760" y="1554480"/>
            <a:ext cx="1737360" cy="640080"/>
          </a:xfrm>
          <a:prstGeom prst="rect">
            <a:avLst/>
          </a:prstGeom>
          <a:solidFill>
            <a:srgbClr val="0E8C6E"/>
          </a:solidFill>
          <a:ln/>
        </p:spPr>
      </p:sp>
      <p:sp>
        <p:nvSpPr>
          <p:cNvPr id="35" name="Text 33"/>
          <p:cNvSpPr/>
          <p:nvPr/>
        </p:nvSpPr>
        <p:spPr>
          <a:xfrm>
            <a:off x="9509760" y="155448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Matched Owner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 flipV="1">
            <a:off x="2011680" y="1554480"/>
            <a:ext cx="640080" cy="18288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 flipV="1">
            <a:off x="4389120" y="1234440"/>
            <a:ext cx="548640" cy="32004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389120" y="1645920"/>
            <a:ext cx="548640" cy="73152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675120" y="1280160"/>
            <a:ext cx="548640" cy="32004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675120" y="2651760"/>
            <a:ext cx="548640" cy="100584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961120" y="1554480"/>
            <a:ext cx="548640" cy="18288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 flipV="1">
            <a:off x="2011680" y="5166360"/>
            <a:ext cx="640080" cy="9144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520440" y="1737360"/>
            <a:ext cx="0" cy="3154680"/>
          </a:xfrm>
          <a:prstGeom prst="line">
            <a:avLst/>
          </a:prstGeom>
          <a:noFill/>
          <a:ln w="15875">
            <a:solidFill>
              <a:srgbClr val="6B7280"/>
            </a:solidFill>
            <a:prstDash val="dash"/>
          </a:ln>
        </p:spPr>
      </p:sp>
      <p:sp>
        <p:nvSpPr>
          <p:cNvPr id="44" name="Shape 42"/>
          <p:cNvSpPr/>
          <p:nvPr/>
        </p:nvSpPr>
        <p:spPr>
          <a:xfrm>
            <a:off x="5806440" y="1737360"/>
            <a:ext cx="0" cy="3154680"/>
          </a:xfrm>
          <a:prstGeom prst="line">
            <a:avLst/>
          </a:prstGeom>
          <a:noFill/>
          <a:ln w="15875">
            <a:solidFill>
              <a:srgbClr val="6B7280"/>
            </a:solidFill>
            <a:prstDash val="dash"/>
          </a:ln>
        </p:spPr>
      </p:sp>
      <p:sp>
        <p:nvSpPr>
          <p:cNvPr id="45" name="Shape 43"/>
          <p:cNvSpPr/>
          <p:nvPr/>
        </p:nvSpPr>
        <p:spPr>
          <a:xfrm>
            <a:off x="8092440" y="2103120"/>
            <a:ext cx="0" cy="2788920"/>
          </a:xfrm>
          <a:prstGeom prst="line">
            <a:avLst/>
          </a:prstGeom>
          <a:noFill/>
          <a:ln w="15875">
            <a:solidFill>
              <a:srgbClr val="6B7280"/>
            </a:solidFill>
            <a:prstDash val="dash"/>
          </a:ln>
        </p:spPr>
      </p:sp>
      <p:sp>
        <p:nvSpPr>
          <p:cNvPr id="46" name="Shape 44"/>
          <p:cNvSpPr/>
          <p:nvPr/>
        </p:nvSpPr>
        <p:spPr>
          <a:xfrm>
            <a:off x="5806440" y="4114800"/>
            <a:ext cx="3703320" cy="914400"/>
          </a:xfrm>
          <a:prstGeom prst="line">
            <a:avLst/>
          </a:prstGeom>
          <a:noFill/>
          <a:ln w="15875">
            <a:solidFill>
              <a:srgbClr val="6B7280"/>
            </a:solidFill>
            <a:prstDash val="dash"/>
          </a:ln>
        </p:spPr>
      </p:sp>
      <p:sp>
        <p:nvSpPr>
          <p:cNvPr id="47" name="Text 45"/>
          <p:cNvSpPr/>
          <p:nvPr/>
        </p:nvSpPr>
        <p:spPr>
          <a:xfrm>
            <a:off x="457200" y="651052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ReturnX  |  Smart Enterprise Lost &amp; Found Management System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11277295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8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OWNERSHIP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Swim Lane Diagram — Item Recovery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463040" cy="1051560"/>
          </a:xfrm>
          <a:prstGeom prst="rect">
            <a:avLst/>
          </a:prstGeom>
          <a:solidFill>
            <a:srgbClr val="0B3D5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417320"/>
            <a:ext cx="1463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011680" y="1417320"/>
            <a:ext cx="9418320" cy="1051560"/>
          </a:xfrm>
          <a:prstGeom prst="rect">
            <a:avLst/>
          </a:prstGeom>
          <a:solidFill>
            <a:srgbClr val="F4F7F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2468880"/>
            <a:ext cx="1463040" cy="1051560"/>
          </a:xfrm>
          <a:prstGeom prst="rect">
            <a:avLst/>
          </a:prstGeom>
          <a:solidFill>
            <a:srgbClr val="0E8C6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468880"/>
            <a:ext cx="1463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Finder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011680" y="2468880"/>
            <a:ext cx="9418320" cy="1051560"/>
          </a:xfrm>
          <a:prstGeom prst="rect">
            <a:avLst/>
          </a:prstGeom>
          <a:solidFill>
            <a:srgbClr val="EAF2F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3520440"/>
            <a:ext cx="1463040" cy="1051560"/>
          </a:xfrm>
          <a:prstGeom prst="rect">
            <a:avLst/>
          </a:prstGeom>
          <a:solidFill>
            <a:srgbClr val="3E7CB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3520440"/>
            <a:ext cx="1463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011680" y="3520440"/>
            <a:ext cx="9418320" cy="1051560"/>
          </a:xfrm>
          <a:prstGeom prst="rect">
            <a:avLst/>
          </a:prstGeom>
          <a:solidFill>
            <a:srgbClr val="F4F7F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4572000"/>
            <a:ext cx="1463040" cy="1051560"/>
          </a:xfrm>
          <a:prstGeom prst="rect">
            <a:avLst/>
          </a:prstGeom>
          <a:solidFill>
            <a:srgbClr val="5D8AA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4572000"/>
            <a:ext cx="1463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011680" y="4572000"/>
            <a:ext cx="9418320" cy="1051560"/>
          </a:xfrm>
          <a:prstGeom prst="rect">
            <a:avLst/>
          </a:prstGeom>
          <a:solidFill>
            <a:srgbClr val="EAF2F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011680" y="1623060"/>
            <a:ext cx="146304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9050">
            <a:solidFill>
              <a:srgbClr val="0B3D5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011680" y="162306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item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206240" y="2674620"/>
            <a:ext cx="146304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9050">
            <a:solidFill>
              <a:srgbClr val="0E8C6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206240" y="267462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item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400800" y="3726180"/>
            <a:ext cx="146304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9050">
            <a:solidFill>
              <a:srgbClr val="3E7CB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0" y="372618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Auto-matches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8595360" y="3726180"/>
            <a:ext cx="146304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9050">
            <a:solidFill>
              <a:srgbClr val="3E7CB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595360" y="372618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Notifies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8595360" y="1623060"/>
            <a:ext cx="146304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9050">
            <a:solidFill>
              <a:srgbClr val="0B3D5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595360" y="162306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Confirms &amp;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claims item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9006840" y="4777740"/>
            <a:ext cx="146304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9050">
            <a:solidFill>
              <a:srgbClr val="5D8AA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006840" y="477774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Verifies &amp;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closes case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474720" y="1943100"/>
            <a:ext cx="731520" cy="105156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669280" y="2994660"/>
            <a:ext cx="731520" cy="105156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863840" y="4046220"/>
            <a:ext cx="731520" cy="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 flipV="1">
            <a:off x="9326880" y="2468880"/>
            <a:ext cx="0" cy="157734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 flipH="1">
            <a:off x="9006840" y="1943100"/>
            <a:ext cx="320040" cy="315468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" y="651052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ReturnX  |  Smart Enterprise Lost &amp; Found Management System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1277295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8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MODEL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UML Class Diagram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1965960" cy="1417320"/>
          </a:xfrm>
          <a:prstGeom prst="rect">
            <a:avLst/>
          </a:prstGeom>
          <a:solidFill>
            <a:srgbClr val="FFFFFF"/>
          </a:solidFill>
          <a:ln w="19050">
            <a:solidFill>
              <a:srgbClr val="0B3D5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371600"/>
            <a:ext cx="1965960" cy="292608"/>
          </a:xfrm>
          <a:prstGeom prst="rect">
            <a:avLst/>
          </a:prstGeom>
          <a:solidFill>
            <a:srgbClr val="0B3D5C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371600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57200" y="1664208"/>
            <a:ext cx="1965960" cy="0"/>
          </a:xfrm>
          <a:prstGeom prst="line">
            <a:avLst/>
          </a:prstGeom>
          <a:noFill/>
          <a:ln w="12700">
            <a:solidFill>
              <a:srgbClr val="0B3D5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1719072"/>
            <a:ext cx="1746504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id: Long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name: String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email: String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role: Role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743200" y="1371600"/>
            <a:ext cx="1965960" cy="1417320"/>
          </a:xfrm>
          <a:prstGeom prst="rect">
            <a:avLst/>
          </a:prstGeom>
          <a:solidFill>
            <a:srgbClr val="FFFFFF"/>
          </a:solidFill>
          <a:ln w="19050">
            <a:solidFill>
              <a:srgbClr val="0E8C6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0" y="1371600"/>
            <a:ext cx="1965960" cy="292608"/>
          </a:xfrm>
          <a:prstGeom prst="rect">
            <a:avLst/>
          </a:prstGeom>
          <a:solidFill>
            <a:srgbClr val="0E8C6E"/>
          </a:solidFill>
          <a:ln/>
        </p:spPr>
      </p:sp>
      <p:sp>
        <p:nvSpPr>
          <p:cNvPr id="11" name="Text 9"/>
          <p:cNvSpPr/>
          <p:nvPr/>
        </p:nvSpPr>
        <p:spPr>
          <a:xfrm>
            <a:off x="2743200" y="1371600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2743200" y="1664208"/>
            <a:ext cx="1965960" cy="0"/>
          </a:xfrm>
          <a:prstGeom prst="line">
            <a:avLst/>
          </a:prstGeom>
          <a:noFill/>
          <a:ln w="12700">
            <a:solidFill>
              <a:srgbClr val="0E8C6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852928" y="1719072"/>
            <a:ext cx="1746504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id: Long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title: String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status: Status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location: String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029200" y="1371600"/>
            <a:ext cx="1965960" cy="1417320"/>
          </a:xfrm>
          <a:prstGeom prst="rect">
            <a:avLst/>
          </a:prstGeom>
          <a:solidFill>
            <a:srgbClr val="FFFFFF"/>
          </a:solidFill>
          <a:ln w="19050">
            <a:solidFill>
              <a:srgbClr val="3E7CB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29200" y="1371600"/>
            <a:ext cx="1965960" cy="292608"/>
          </a:xfrm>
          <a:prstGeom prst="rect">
            <a:avLst/>
          </a:prstGeom>
          <a:solidFill>
            <a:srgbClr val="3E7CB1"/>
          </a:solidFill>
          <a:ln/>
        </p:spPr>
      </p:sp>
      <p:sp>
        <p:nvSpPr>
          <p:cNvPr id="16" name="Text 14"/>
          <p:cNvSpPr/>
          <p:nvPr/>
        </p:nvSpPr>
        <p:spPr>
          <a:xfrm>
            <a:off x="5029200" y="1371600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029200" y="1664208"/>
            <a:ext cx="1965960" cy="0"/>
          </a:xfrm>
          <a:prstGeom prst="line">
            <a:avLst/>
          </a:prstGeom>
          <a:noFill/>
          <a:ln w="12700">
            <a:solidFill>
              <a:srgbClr val="3E7CB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138928" y="1719072"/>
            <a:ext cx="1746504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id: Long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itemId: Long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claimantId: Long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verified: boolean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7315200" y="1371600"/>
            <a:ext cx="1965960" cy="1417320"/>
          </a:xfrm>
          <a:prstGeom prst="rect">
            <a:avLst/>
          </a:prstGeom>
          <a:solidFill>
            <a:srgbClr val="FFFFFF"/>
          </a:solidFill>
          <a:ln w="19050">
            <a:solidFill>
              <a:srgbClr val="0B3D5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00" y="1371600"/>
            <a:ext cx="1965960" cy="292608"/>
          </a:xfrm>
          <a:prstGeom prst="rect">
            <a:avLst/>
          </a:prstGeom>
          <a:solidFill>
            <a:srgbClr val="0B3D5C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0" y="1371600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7315200" y="1664208"/>
            <a:ext cx="1965960" cy="0"/>
          </a:xfrm>
          <a:prstGeom prst="line">
            <a:avLst/>
          </a:prstGeom>
          <a:noFill/>
          <a:ln w="12700">
            <a:solidFill>
              <a:srgbClr val="0B3D5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424928" y="1719072"/>
            <a:ext cx="1746504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id: Long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userId: Long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points: int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reason: String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9601200" y="1371600"/>
            <a:ext cx="1965960" cy="1417320"/>
          </a:xfrm>
          <a:prstGeom prst="rect">
            <a:avLst/>
          </a:prstGeom>
          <a:solidFill>
            <a:srgbClr val="FFFFFF"/>
          </a:solidFill>
          <a:ln w="19050">
            <a:solidFill>
              <a:srgbClr val="0E8C6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601200" y="1371600"/>
            <a:ext cx="1965960" cy="292608"/>
          </a:xfrm>
          <a:prstGeom prst="rect">
            <a:avLst/>
          </a:prstGeom>
          <a:solidFill>
            <a:srgbClr val="0E8C6E"/>
          </a:solidFill>
          <a:ln/>
        </p:spPr>
      </p:sp>
      <p:sp>
        <p:nvSpPr>
          <p:cNvPr id="26" name="Text 24"/>
          <p:cNvSpPr/>
          <p:nvPr/>
        </p:nvSpPr>
        <p:spPr>
          <a:xfrm>
            <a:off x="9601200" y="1371600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9601200" y="1664208"/>
            <a:ext cx="1965960" cy="0"/>
          </a:xfrm>
          <a:prstGeom prst="line">
            <a:avLst/>
          </a:prstGeom>
          <a:noFill/>
          <a:ln w="12700">
            <a:solidFill>
              <a:srgbClr val="0E8C6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710928" y="1719072"/>
            <a:ext cx="1746504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id: Long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userId: Long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message: String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read: boolean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2743200" y="4023360"/>
            <a:ext cx="1965960" cy="1280160"/>
          </a:xfrm>
          <a:prstGeom prst="rect">
            <a:avLst/>
          </a:prstGeom>
          <a:solidFill>
            <a:srgbClr val="FFFFFF"/>
          </a:solidFill>
          <a:ln w="19050">
            <a:solidFill>
              <a:srgbClr val="3E7CB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743200" y="4023360"/>
            <a:ext cx="1965960" cy="292608"/>
          </a:xfrm>
          <a:prstGeom prst="rect">
            <a:avLst/>
          </a:prstGeom>
          <a:solidFill>
            <a:srgbClr val="3E7CB1"/>
          </a:solidFill>
          <a:ln/>
        </p:spPr>
      </p:sp>
      <p:sp>
        <p:nvSpPr>
          <p:cNvPr id="31" name="Text 29"/>
          <p:cNvSpPr/>
          <p:nvPr/>
        </p:nvSpPr>
        <p:spPr>
          <a:xfrm>
            <a:off x="2743200" y="4023360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ChatRoom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2743200" y="4315968"/>
            <a:ext cx="1965960" cy="0"/>
          </a:xfrm>
          <a:prstGeom prst="line">
            <a:avLst/>
          </a:prstGeom>
          <a:noFill/>
          <a:ln w="12700">
            <a:solidFill>
              <a:srgbClr val="3E7CB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852928" y="4370832"/>
            <a:ext cx="174650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id: Long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claimId: Long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createdAt: Date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5029200" y="4023360"/>
            <a:ext cx="1965960" cy="1280160"/>
          </a:xfrm>
          <a:prstGeom prst="rect">
            <a:avLst/>
          </a:prstGeom>
          <a:solidFill>
            <a:srgbClr val="FFFFFF"/>
          </a:solidFill>
          <a:ln w="19050">
            <a:solidFill>
              <a:srgbClr val="0B3D5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029200" y="4023360"/>
            <a:ext cx="1965960" cy="292608"/>
          </a:xfrm>
          <a:prstGeom prst="rect">
            <a:avLst/>
          </a:prstGeom>
          <a:solidFill>
            <a:srgbClr val="0B3D5C"/>
          </a:solidFill>
          <a:ln/>
        </p:spPr>
      </p:sp>
      <p:sp>
        <p:nvSpPr>
          <p:cNvPr id="36" name="Text 34"/>
          <p:cNvSpPr/>
          <p:nvPr/>
        </p:nvSpPr>
        <p:spPr>
          <a:xfrm>
            <a:off x="5029200" y="4023360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5029200" y="4315968"/>
            <a:ext cx="1965960" cy="0"/>
          </a:xfrm>
          <a:prstGeom prst="line">
            <a:avLst/>
          </a:prstGeom>
          <a:noFill/>
          <a:ln w="12700">
            <a:solidFill>
              <a:srgbClr val="0B3D5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138928" y="4370832"/>
            <a:ext cx="174650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id: Long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roomId: Long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senderId: Long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text: String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2423160" y="2075688"/>
            <a:ext cx="320040" cy="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286000" y="181965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2423160" y="181965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709160" y="2075688"/>
            <a:ext cx="320040" cy="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572000" y="181965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4709160" y="181965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6995160" y="2075688"/>
            <a:ext cx="320040" cy="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858000" y="181965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6995160" y="181965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9281160" y="2075688"/>
            <a:ext cx="320040" cy="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9144000" y="181965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9281160" y="181965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6035040" y="2788920"/>
            <a:ext cx="0" cy="123444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897880" y="253288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5715000" y="376732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3726180" y="4663440"/>
            <a:ext cx="1303020" cy="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589020" y="440740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4709160" y="440740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457200" y="59893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Legend:  1 = one   *  = many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457200" y="651052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ReturnX  |  Smart Enterprise Lost &amp; Found Management System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11277295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8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DESIGN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 Diagram — Database Schema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1920240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0B3D5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371600"/>
            <a:ext cx="1920240" cy="310896"/>
          </a:xfrm>
          <a:prstGeom prst="rect">
            <a:avLst/>
          </a:prstGeom>
          <a:solidFill>
            <a:srgbClr val="0B3D5C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371600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66928" y="1737360"/>
            <a:ext cx="1700784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  user_id</a:t>
            </a:r>
            <a:endParaRPr lang="en-US" sz="8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name</a:t>
            </a:r>
            <a:endParaRPr lang="en-US" sz="8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email</a:t>
            </a:r>
            <a:endParaRPr lang="en-US" sz="8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role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2743200" y="1371600"/>
            <a:ext cx="1920240" cy="1691640"/>
          </a:xfrm>
          <a:prstGeom prst="rect">
            <a:avLst/>
          </a:prstGeom>
          <a:solidFill>
            <a:srgbClr val="FFFFFF"/>
          </a:solidFill>
          <a:ln w="19050">
            <a:solidFill>
              <a:srgbClr val="0E8C6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0" y="1371600"/>
            <a:ext cx="1920240" cy="310896"/>
          </a:xfrm>
          <a:prstGeom prst="rect">
            <a:avLst/>
          </a:prstGeom>
          <a:solidFill>
            <a:srgbClr val="0E8C6E"/>
          </a:solidFill>
          <a:ln/>
        </p:spPr>
      </p:sp>
      <p:sp>
        <p:nvSpPr>
          <p:cNvPr id="10" name="Text 8"/>
          <p:cNvSpPr/>
          <p:nvPr/>
        </p:nvSpPr>
        <p:spPr>
          <a:xfrm>
            <a:off x="2743200" y="1371600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ITEMS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2852928" y="1737360"/>
            <a:ext cx="1700784" cy="1271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  item_id</a:t>
            </a:r>
            <a:endParaRPr lang="en-US" sz="8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  reported_by</a:t>
            </a:r>
            <a:endParaRPr lang="en-US" sz="8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title, status</a:t>
            </a:r>
            <a:endParaRPr lang="en-US" sz="8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location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5029200" y="1371600"/>
            <a:ext cx="1920240" cy="1691640"/>
          </a:xfrm>
          <a:prstGeom prst="rect">
            <a:avLst/>
          </a:prstGeom>
          <a:solidFill>
            <a:srgbClr val="FFFFFF"/>
          </a:solidFill>
          <a:ln w="19050">
            <a:solidFill>
              <a:srgbClr val="3E7CB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29200" y="1371600"/>
            <a:ext cx="1920240" cy="310896"/>
          </a:xfrm>
          <a:prstGeom prst="rect">
            <a:avLst/>
          </a:prstGeom>
          <a:solidFill>
            <a:srgbClr val="3E7CB1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0" y="1371600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CLAIMS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138928" y="1737360"/>
            <a:ext cx="1700784" cy="1271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  claim_id</a:t>
            </a:r>
            <a:endParaRPr lang="en-US" sz="8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  item_id</a:t>
            </a:r>
            <a:endParaRPr lang="en-US" sz="8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  claimant_id</a:t>
            </a:r>
            <a:endParaRPr lang="en-US" sz="8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verified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7315200" y="1371600"/>
            <a:ext cx="1920240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0B3D5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315200" y="1371600"/>
            <a:ext cx="1920240" cy="310896"/>
          </a:xfrm>
          <a:prstGeom prst="rect">
            <a:avLst/>
          </a:prstGeom>
          <a:solidFill>
            <a:srgbClr val="0B3D5C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0" y="1371600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REWARDS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7424928" y="1737360"/>
            <a:ext cx="1700784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  reward_id</a:t>
            </a:r>
            <a:endParaRPr lang="en-US" sz="8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  user_id</a:t>
            </a:r>
            <a:endParaRPr lang="en-US" sz="8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points</a:t>
            </a:r>
            <a:endParaRPr lang="en-US" sz="8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reason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9601200" y="1371600"/>
            <a:ext cx="1920240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0E8C6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601200" y="1371600"/>
            <a:ext cx="1920240" cy="310896"/>
          </a:xfrm>
          <a:prstGeom prst="rect">
            <a:avLst/>
          </a:prstGeom>
          <a:solidFill>
            <a:srgbClr val="0E8C6E"/>
          </a:solidFill>
          <a:ln/>
        </p:spPr>
      </p:sp>
      <p:sp>
        <p:nvSpPr>
          <p:cNvPr id="22" name="Text 20"/>
          <p:cNvSpPr/>
          <p:nvPr/>
        </p:nvSpPr>
        <p:spPr>
          <a:xfrm>
            <a:off x="9601200" y="1371600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9710928" y="1737360"/>
            <a:ext cx="1700784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  notif_id</a:t>
            </a:r>
            <a:endParaRPr lang="en-US" sz="8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  user_id</a:t>
            </a:r>
            <a:endParaRPr lang="en-US" sz="8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message</a:t>
            </a:r>
            <a:endParaRPr lang="en-US" sz="8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is_read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5029200" y="4160520"/>
            <a:ext cx="1920240" cy="1417320"/>
          </a:xfrm>
          <a:prstGeom prst="rect">
            <a:avLst/>
          </a:prstGeom>
          <a:solidFill>
            <a:srgbClr val="FFFFFF"/>
          </a:solidFill>
          <a:ln w="19050">
            <a:solidFill>
              <a:srgbClr val="3E7CB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029200" y="4160520"/>
            <a:ext cx="1920240" cy="310896"/>
          </a:xfrm>
          <a:prstGeom prst="rect">
            <a:avLst/>
          </a:prstGeom>
          <a:solidFill>
            <a:srgbClr val="3E7CB1"/>
          </a:solidFill>
          <a:ln/>
        </p:spPr>
      </p:sp>
      <p:sp>
        <p:nvSpPr>
          <p:cNvPr id="26" name="Text 24"/>
          <p:cNvSpPr/>
          <p:nvPr/>
        </p:nvSpPr>
        <p:spPr>
          <a:xfrm>
            <a:off x="5029200" y="4160520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CHAT_ROOMS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5138928" y="4526280"/>
            <a:ext cx="1700784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  room_id</a:t>
            </a:r>
            <a:endParaRPr lang="en-US" sz="8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  claim_id</a:t>
            </a:r>
            <a:endParaRPr lang="en-US" sz="8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created_at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7315200" y="4160520"/>
            <a:ext cx="1920240" cy="1417320"/>
          </a:xfrm>
          <a:prstGeom prst="rect">
            <a:avLst/>
          </a:prstGeom>
          <a:solidFill>
            <a:srgbClr val="FFFFFF"/>
          </a:solidFill>
          <a:ln w="19050">
            <a:solidFill>
              <a:srgbClr val="0B3D5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15200" y="4160520"/>
            <a:ext cx="1920240" cy="310896"/>
          </a:xfrm>
          <a:prstGeom prst="rect">
            <a:avLst/>
          </a:prstGeom>
          <a:solidFill>
            <a:srgbClr val="0B3D5C"/>
          </a:solidFill>
          <a:ln/>
        </p:spPr>
      </p:sp>
      <p:sp>
        <p:nvSpPr>
          <p:cNvPr id="30" name="Text 28"/>
          <p:cNvSpPr/>
          <p:nvPr/>
        </p:nvSpPr>
        <p:spPr>
          <a:xfrm>
            <a:off x="7315200" y="4160520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MESSAGES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7424928" y="4526280"/>
            <a:ext cx="1700784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  message_id</a:t>
            </a:r>
            <a:endParaRPr lang="en-US" sz="8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  room_id</a:t>
            </a:r>
            <a:endParaRPr lang="en-US" sz="8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  sender_id</a:t>
            </a:r>
            <a:endParaRPr lang="en-US" sz="8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text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2377440" y="2148840"/>
            <a:ext cx="365760" cy="64008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194560" y="1979676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1:N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4663440" y="2212848"/>
            <a:ext cx="365760" cy="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480560" y="201168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1:N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 flipV="1">
            <a:off x="6949440" y="2148840"/>
            <a:ext cx="365760" cy="64008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766560" y="1979676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1:N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9235440" y="2148840"/>
            <a:ext cx="365760" cy="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052560" y="194767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1:N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5989320" y="3063240"/>
            <a:ext cx="0" cy="109728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623560" y="341071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1:1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6949440" y="4846320"/>
            <a:ext cx="365760" cy="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766560" y="464515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1:N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457200" y="61264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 = Primary Key    FK = Foreign Key    1:N = One-to-Many    1:1 = One-to-One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457200" y="651052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ReturnX  |  Smart Enterprise Lost &amp; Found Management System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11277295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8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3456432" cy="2148840"/>
          </a:xfrm>
          <a:prstGeom prst="roundRect">
            <a:avLst>
              <a:gd name="adj" fmla="val 3404"/>
            </a:avLst>
          </a:prstGeom>
          <a:solidFill>
            <a:srgbClr val="F4F7FA"/>
          </a:solidFill>
          <a:ln/>
          <a:effectLst>
            <a:outerShdw sx="100000" sy="100000" kx="0" ky="0" algn="bl" rotWithShape="0" blurRad="76200" dist="25400" dir="5400000">
              <a:srgbClr val="9CA3AF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69164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B3D5C"/>
          </a:solidFill>
          <a:ln/>
        </p:spPr>
      </p:sp>
      <p:sp>
        <p:nvSpPr>
          <p:cNvPr id="6" name="Text 4"/>
          <p:cNvSpPr/>
          <p:nvPr/>
        </p:nvSpPr>
        <p:spPr>
          <a:xfrm>
            <a:off x="1325880" y="1691640"/>
            <a:ext cx="2542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2331720"/>
            <a:ext cx="1408176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B3D5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331720"/>
            <a:ext cx="14081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React.js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368296" y="2331720"/>
            <a:ext cx="1408176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B3D5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368296" y="2331720"/>
            <a:ext cx="14081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Redux Toolkit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731520" y="2898648"/>
            <a:ext cx="1408176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B3D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2898648"/>
            <a:ext cx="14081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368296" y="2898648"/>
            <a:ext cx="1408176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B3D5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368296" y="2898648"/>
            <a:ext cx="14081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Axios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233672" y="1508760"/>
            <a:ext cx="3456432" cy="2148840"/>
          </a:xfrm>
          <a:prstGeom prst="roundRect">
            <a:avLst>
              <a:gd name="adj" fmla="val 3404"/>
            </a:avLst>
          </a:prstGeom>
          <a:solidFill>
            <a:srgbClr val="F4F7FA"/>
          </a:solidFill>
          <a:ln/>
          <a:effectLst>
            <a:outerShdw sx="100000" sy="100000" kx="0" ky="0" algn="bl" rotWithShape="0" blurRad="76200" dist="25400" dir="5400000">
              <a:srgbClr val="9CA3AF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416552" y="169164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E8C6E"/>
          </a:solidFill>
          <a:ln/>
        </p:spPr>
      </p:sp>
      <p:sp>
        <p:nvSpPr>
          <p:cNvPr id="17" name="Text 15"/>
          <p:cNvSpPr/>
          <p:nvPr/>
        </p:nvSpPr>
        <p:spPr>
          <a:xfrm>
            <a:off x="5010912" y="1691640"/>
            <a:ext cx="2542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416552" y="2331720"/>
            <a:ext cx="1408176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E8C6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416552" y="2331720"/>
            <a:ext cx="14081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E8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053328" y="2331720"/>
            <a:ext cx="1408176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E8C6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053328" y="2331720"/>
            <a:ext cx="14081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E8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Cloud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416552" y="2898648"/>
            <a:ext cx="1408176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E8C6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416552" y="2898648"/>
            <a:ext cx="14081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E8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17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053328" y="2898648"/>
            <a:ext cx="1408176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E8C6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053328" y="2898648"/>
            <a:ext cx="14081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E8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7918704" y="1508760"/>
            <a:ext cx="3456432" cy="2148840"/>
          </a:xfrm>
          <a:prstGeom prst="roundRect">
            <a:avLst>
              <a:gd name="adj" fmla="val 3404"/>
            </a:avLst>
          </a:prstGeom>
          <a:solidFill>
            <a:srgbClr val="F4F7FA"/>
          </a:solidFill>
          <a:ln/>
          <a:effectLst>
            <a:outerShdw sx="100000" sy="100000" kx="0" ky="0" algn="bl" rotWithShape="0" blurRad="76200" dist="25400" dir="5400000">
              <a:srgbClr val="9CA3AF">
                <a:alpha val="2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8101584" y="169164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3E7CB1"/>
          </a:solidFill>
          <a:ln/>
        </p:spPr>
      </p:sp>
      <p:sp>
        <p:nvSpPr>
          <p:cNvPr id="28" name="Text 26"/>
          <p:cNvSpPr/>
          <p:nvPr/>
        </p:nvSpPr>
        <p:spPr>
          <a:xfrm>
            <a:off x="8695944" y="1691640"/>
            <a:ext cx="2542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&amp; DevOps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8101584" y="2331720"/>
            <a:ext cx="1408176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3E7CB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101584" y="2331720"/>
            <a:ext cx="14081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9738360" y="2331720"/>
            <a:ext cx="1408176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3E7CB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738360" y="2331720"/>
            <a:ext cx="14081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8101584" y="2898648"/>
            <a:ext cx="1408176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3E7CB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101584" y="2898648"/>
            <a:ext cx="14081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9738360" y="2898648"/>
            <a:ext cx="1408176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3E7CB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738360" y="2898648"/>
            <a:ext cx="14081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Jenkins CI/CD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548640" y="3931920"/>
            <a:ext cx="3456432" cy="2148840"/>
          </a:xfrm>
          <a:prstGeom prst="roundRect">
            <a:avLst>
              <a:gd name="adj" fmla="val 3404"/>
            </a:avLst>
          </a:prstGeom>
          <a:solidFill>
            <a:srgbClr val="F4F7FA"/>
          </a:solidFill>
          <a:ln/>
          <a:effectLst>
            <a:outerShdw sx="100000" sy="100000" kx="0" ky="0" algn="bl" rotWithShape="0" blurRad="76200" dist="25400" dir="5400000">
              <a:srgbClr val="9CA3AF">
                <a:alpha val="25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731520" y="411480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B3D5C"/>
          </a:solidFill>
          <a:ln/>
        </p:spPr>
      </p:sp>
      <p:sp>
        <p:nvSpPr>
          <p:cNvPr id="39" name="Text 37"/>
          <p:cNvSpPr/>
          <p:nvPr/>
        </p:nvSpPr>
        <p:spPr>
          <a:xfrm>
            <a:off x="1325880" y="4114800"/>
            <a:ext cx="2542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731520" y="4754880"/>
            <a:ext cx="1408176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B3D5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31520" y="4754880"/>
            <a:ext cx="14081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2368296" y="4754880"/>
            <a:ext cx="1408176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B3D5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368296" y="4754880"/>
            <a:ext cx="14081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731520" y="5321808"/>
            <a:ext cx="1408176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B3D5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31520" y="5321808"/>
            <a:ext cx="14081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Cache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4233672" y="3931920"/>
            <a:ext cx="3456432" cy="2148840"/>
          </a:xfrm>
          <a:prstGeom prst="roundRect">
            <a:avLst>
              <a:gd name="adj" fmla="val 3404"/>
            </a:avLst>
          </a:prstGeom>
          <a:solidFill>
            <a:srgbClr val="F4F7FA"/>
          </a:solidFill>
          <a:ln/>
          <a:effectLst>
            <a:outerShdw sx="100000" sy="100000" kx="0" ky="0" algn="bl" rotWithShape="0" blurRad="76200" dist="25400" dir="5400000">
              <a:srgbClr val="9CA3AF">
                <a:alpha val="25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4416552" y="411480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E8C6E"/>
          </a:solidFill>
          <a:ln/>
        </p:spPr>
      </p:sp>
      <p:sp>
        <p:nvSpPr>
          <p:cNvPr id="48" name="Text 46"/>
          <p:cNvSpPr/>
          <p:nvPr/>
        </p:nvSpPr>
        <p:spPr>
          <a:xfrm>
            <a:off x="5010912" y="4114800"/>
            <a:ext cx="2542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400" dirty="0"/>
          </a:p>
        </p:txBody>
      </p:sp>
      <p:sp>
        <p:nvSpPr>
          <p:cNvPr id="49" name="Shape 47"/>
          <p:cNvSpPr/>
          <p:nvPr/>
        </p:nvSpPr>
        <p:spPr>
          <a:xfrm>
            <a:off x="4416552" y="4754880"/>
            <a:ext cx="1408176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E8C6E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416552" y="4754880"/>
            <a:ext cx="14081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E8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Security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6053328" y="4754880"/>
            <a:ext cx="1408176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E8C6E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053328" y="4754880"/>
            <a:ext cx="14081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E8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4416552" y="5321808"/>
            <a:ext cx="1408176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E8C6E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416552" y="5321808"/>
            <a:ext cx="14081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E8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OAuth 2.0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6053328" y="5321808"/>
            <a:ext cx="1408176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E8C6E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053328" y="5321808"/>
            <a:ext cx="14081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E8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7918704" y="3931920"/>
            <a:ext cx="3456432" cy="2148840"/>
          </a:xfrm>
          <a:prstGeom prst="roundRect">
            <a:avLst>
              <a:gd name="adj" fmla="val 3404"/>
            </a:avLst>
          </a:prstGeom>
          <a:solidFill>
            <a:srgbClr val="F4F7FA"/>
          </a:solidFill>
          <a:ln/>
          <a:effectLst>
            <a:outerShdw sx="100000" sy="100000" kx="0" ky="0" algn="bl" rotWithShape="0" blurRad="76200" dist="25400" dir="5400000">
              <a:srgbClr val="9CA3AF">
                <a:alpha val="25000"/>
              </a:srgbClr>
            </a:outerShdw>
          </a:effectLst>
        </p:spPr>
      </p:sp>
      <p:sp>
        <p:nvSpPr>
          <p:cNvPr id="58" name="Shape 56"/>
          <p:cNvSpPr/>
          <p:nvPr/>
        </p:nvSpPr>
        <p:spPr>
          <a:xfrm>
            <a:off x="8101584" y="411480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3E7CB1"/>
          </a:solidFill>
          <a:ln/>
        </p:spPr>
      </p:sp>
      <p:sp>
        <p:nvSpPr>
          <p:cNvPr id="59" name="Text 57"/>
          <p:cNvSpPr/>
          <p:nvPr/>
        </p:nvSpPr>
        <p:spPr>
          <a:xfrm>
            <a:off x="8695944" y="4114800"/>
            <a:ext cx="2542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1400" dirty="0"/>
          </a:p>
        </p:txBody>
      </p:sp>
      <p:sp>
        <p:nvSpPr>
          <p:cNvPr id="60" name="Shape 58"/>
          <p:cNvSpPr/>
          <p:nvPr/>
        </p:nvSpPr>
        <p:spPr>
          <a:xfrm>
            <a:off x="8101584" y="4754880"/>
            <a:ext cx="1408176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3E7CB1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8101584" y="4754880"/>
            <a:ext cx="14081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JUnit 5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9738360" y="4754880"/>
            <a:ext cx="1408176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3E7CB1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9738360" y="4754880"/>
            <a:ext cx="14081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Mockito</a:t>
            </a:r>
            <a:endParaRPr lang="en-US" sz="950" dirty="0"/>
          </a:p>
        </p:txBody>
      </p:sp>
      <p:sp>
        <p:nvSpPr>
          <p:cNvPr id="64" name="Shape 62"/>
          <p:cNvSpPr/>
          <p:nvPr/>
        </p:nvSpPr>
        <p:spPr>
          <a:xfrm>
            <a:off x="8101584" y="5321808"/>
            <a:ext cx="1408176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3E7CB1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8101584" y="5321808"/>
            <a:ext cx="14081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Postman</a:t>
            </a:r>
            <a:endParaRPr lang="en-US" sz="950" dirty="0"/>
          </a:p>
        </p:txBody>
      </p:sp>
      <p:sp>
        <p:nvSpPr>
          <p:cNvPr id="66" name="Shape 64"/>
          <p:cNvSpPr/>
          <p:nvPr/>
        </p:nvSpPr>
        <p:spPr>
          <a:xfrm>
            <a:off x="9738360" y="5321808"/>
            <a:ext cx="1408176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3E7CB1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9738360" y="5321808"/>
            <a:ext cx="14081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Selenium</a:t>
            </a:r>
            <a:endParaRPr lang="en-US" sz="950" dirty="0"/>
          </a:p>
        </p:txBody>
      </p:sp>
      <p:sp>
        <p:nvSpPr>
          <p:cNvPr id="68" name="Text 66"/>
          <p:cNvSpPr/>
          <p:nvPr/>
        </p:nvSpPr>
        <p:spPr>
          <a:xfrm>
            <a:off x="457200" y="651052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ReturnX  |  Smart Enterprise Lost &amp; Found Management System</a:t>
            </a:r>
            <a:endParaRPr lang="en-US" sz="900" dirty="0"/>
          </a:p>
        </p:txBody>
      </p:sp>
      <p:sp>
        <p:nvSpPr>
          <p:cNvPr id="69" name="Text 67"/>
          <p:cNvSpPr/>
          <p:nvPr/>
        </p:nvSpPr>
        <p:spPr>
          <a:xfrm>
            <a:off x="11277295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8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PROTECTING THE PLATFORM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 Architecture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017520" cy="1737360"/>
          </a:xfrm>
          <a:prstGeom prst="roundRect">
            <a:avLst>
              <a:gd name="adj" fmla="val 4211"/>
            </a:avLst>
          </a:prstGeom>
          <a:solidFill>
            <a:srgbClr val="F4F7FA"/>
          </a:solidFill>
          <a:ln/>
          <a:effectLst>
            <a:outerShdw sx="100000" sy="100000" kx="0" ky="0" algn="bl" rotWithShape="0" blurRad="76200" dist="25400" dir="5400000">
              <a:srgbClr val="9CA3AF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714500" y="1805940"/>
            <a:ext cx="685800" cy="685800"/>
          </a:xfrm>
          <a:prstGeom prst="ellipse">
            <a:avLst/>
          </a:prstGeom>
          <a:solidFill>
            <a:srgbClr val="0E8C6E"/>
          </a:solidFill>
          <a:ln/>
        </p:spPr>
      </p:sp>
      <p:sp>
        <p:nvSpPr>
          <p:cNvPr id="6" name="Text 4"/>
          <p:cNvSpPr/>
          <p:nvPr/>
        </p:nvSpPr>
        <p:spPr>
          <a:xfrm>
            <a:off x="1714500" y="18059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85800" y="26060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77240" y="29260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Stateless token-based authentication across services.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794760" y="1554480"/>
            <a:ext cx="3017520" cy="1737360"/>
          </a:xfrm>
          <a:prstGeom prst="roundRect">
            <a:avLst>
              <a:gd name="adj" fmla="val 4211"/>
            </a:avLst>
          </a:prstGeom>
          <a:solidFill>
            <a:srgbClr val="F4F7FA"/>
          </a:solidFill>
          <a:ln/>
          <a:effectLst>
            <a:outerShdw sx="100000" sy="100000" kx="0" ky="0" algn="bl" rotWithShape="0" blurRad="76200" dist="25400" dir="5400000">
              <a:srgbClr val="9CA3AF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960620" y="1805940"/>
            <a:ext cx="685800" cy="685800"/>
          </a:xfrm>
          <a:prstGeom prst="ellipse">
            <a:avLst/>
          </a:prstGeom>
          <a:solidFill>
            <a:srgbClr val="0E8C6E"/>
          </a:solidFill>
          <a:ln/>
        </p:spPr>
      </p:sp>
      <p:sp>
        <p:nvSpPr>
          <p:cNvPr id="11" name="Text 9"/>
          <p:cNvSpPr/>
          <p:nvPr/>
        </p:nvSpPr>
        <p:spPr>
          <a:xfrm>
            <a:off x="4960620" y="18059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931920" y="26060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Security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023360" y="29260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authentication &amp; authorization filters.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040880" y="1554480"/>
            <a:ext cx="3017520" cy="1737360"/>
          </a:xfrm>
          <a:prstGeom prst="roundRect">
            <a:avLst>
              <a:gd name="adj" fmla="val 4211"/>
            </a:avLst>
          </a:prstGeom>
          <a:solidFill>
            <a:srgbClr val="F4F7FA"/>
          </a:solidFill>
          <a:ln/>
          <a:effectLst>
            <a:outerShdw sx="100000" sy="100000" kx="0" ky="0" algn="bl" rotWithShape="0" blurRad="76200" dist="25400" dir="5400000">
              <a:srgbClr val="9CA3AF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06740" y="1805940"/>
            <a:ext cx="685800" cy="685800"/>
          </a:xfrm>
          <a:prstGeom prst="ellipse">
            <a:avLst/>
          </a:prstGeom>
          <a:solidFill>
            <a:srgbClr val="0E8C6E"/>
          </a:solidFill>
          <a:ln/>
        </p:spPr>
      </p:sp>
      <p:sp>
        <p:nvSpPr>
          <p:cNvPr id="16" name="Text 14"/>
          <p:cNvSpPr/>
          <p:nvPr/>
        </p:nvSpPr>
        <p:spPr>
          <a:xfrm>
            <a:off x="8206740" y="18059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7178040" y="26060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269480" y="29260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One-way password hashing before storage.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48640" y="3566160"/>
            <a:ext cx="3017520" cy="1737360"/>
          </a:xfrm>
          <a:prstGeom prst="roundRect">
            <a:avLst>
              <a:gd name="adj" fmla="val 4211"/>
            </a:avLst>
          </a:prstGeom>
          <a:solidFill>
            <a:srgbClr val="F4F7FA"/>
          </a:solidFill>
          <a:ln/>
          <a:effectLst>
            <a:outerShdw sx="100000" sy="100000" kx="0" ky="0" algn="bl" rotWithShape="0" blurRad="76200" dist="25400" dir="5400000">
              <a:srgbClr val="9CA3AF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1714500" y="3817620"/>
            <a:ext cx="685800" cy="685800"/>
          </a:xfrm>
          <a:prstGeom prst="ellipse">
            <a:avLst/>
          </a:prstGeom>
          <a:solidFill>
            <a:srgbClr val="0E8C6E"/>
          </a:solidFill>
          <a:ln/>
        </p:spPr>
      </p:sp>
      <p:sp>
        <p:nvSpPr>
          <p:cNvPr id="21" name="Text 19"/>
          <p:cNvSpPr/>
          <p:nvPr/>
        </p:nvSpPr>
        <p:spPr>
          <a:xfrm>
            <a:off x="1714500" y="38176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685800" y="46177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77240" y="49377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TLS-encrypted transport for every request.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794760" y="3566160"/>
            <a:ext cx="3017520" cy="1737360"/>
          </a:xfrm>
          <a:prstGeom prst="roundRect">
            <a:avLst>
              <a:gd name="adj" fmla="val 4211"/>
            </a:avLst>
          </a:prstGeom>
          <a:solidFill>
            <a:srgbClr val="F4F7FA"/>
          </a:solidFill>
          <a:ln/>
          <a:effectLst>
            <a:outerShdw sx="100000" sy="100000" kx="0" ky="0" algn="bl" rotWithShape="0" blurRad="76200" dist="25400" dir="5400000">
              <a:srgbClr val="9CA3AF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960620" y="3817620"/>
            <a:ext cx="685800" cy="685800"/>
          </a:xfrm>
          <a:prstGeom prst="ellipse">
            <a:avLst/>
          </a:prstGeom>
          <a:solidFill>
            <a:srgbClr val="0E8C6E"/>
          </a:solidFill>
          <a:ln/>
        </p:spPr>
      </p:sp>
      <p:sp>
        <p:nvSpPr>
          <p:cNvPr id="26" name="Text 24"/>
          <p:cNvSpPr/>
          <p:nvPr/>
        </p:nvSpPr>
        <p:spPr>
          <a:xfrm>
            <a:off x="4960620" y="38176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3931920" y="46177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023360" y="49377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 control for employees &amp; admins.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7040880" y="3566160"/>
            <a:ext cx="3017520" cy="1737360"/>
          </a:xfrm>
          <a:prstGeom prst="roundRect">
            <a:avLst>
              <a:gd name="adj" fmla="val 4211"/>
            </a:avLst>
          </a:prstGeom>
          <a:solidFill>
            <a:srgbClr val="F4F7FA"/>
          </a:solidFill>
          <a:ln/>
          <a:effectLst>
            <a:outerShdw sx="100000" sy="100000" kx="0" ky="0" algn="bl" rotWithShape="0" blurRad="76200" dist="25400" dir="5400000">
              <a:srgbClr val="9CA3AF">
                <a:alpha val="2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206740" y="3817620"/>
            <a:ext cx="685800" cy="685800"/>
          </a:xfrm>
          <a:prstGeom prst="ellipse">
            <a:avLst/>
          </a:prstGeom>
          <a:solidFill>
            <a:srgbClr val="0E8C6E"/>
          </a:solidFill>
          <a:ln/>
        </p:spPr>
      </p:sp>
      <p:sp>
        <p:nvSpPr>
          <p:cNvPr id="31" name="Text 29"/>
          <p:cNvSpPr/>
          <p:nvPr/>
        </p:nvSpPr>
        <p:spPr>
          <a:xfrm>
            <a:off x="8206740" y="38176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7178040" y="46177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Validation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7269480" y="49377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Server-side validation guards every endpoint.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587088" y="5577840"/>
            <a:ext cx="3017520" cy="1737360"/>
          </a:xfrm>
          <a:prstGeom prst="roundRect">
            <a:avLst>
              <a:gd name="adj" fmla="val 4211"/>
            </a:avLst>
          </a:prstGeom>
          <a:solidFill>
            <a:srgbClr val="F4F7FA"/>
          </a:solidFill>
          <a:ln/>
          <a:effectLst>
            <a:outerShdw sx="100000" sy="100000" kx="0" ky="0" algn="bl" rotWithShape="0" blurRad="76200" dist="25400" dir="5400000">
              <a:srgbClr val="9CA3AF">
                <a:alpha val="2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5752948" y="5829300"/>
            <a:ext cx="685800" cy="685800"/>
          </a:xfrm>
          <a:prstGeom prst="ellipse">
            <a:avLst/>
          </a:prstGeom>
          <a:solidFill>
            <a:srgbClr val="0B3D5C"/>
          </a:solidFill>
          <a:ln/>
        </p:spPr>
      </p:sp>
      <p:sp>
        <p:nvSpPr>
          <p:cNvPr id="36" name="Text 34"/>
          <p:cNvSpPr/>
          <p:nvPr/>
        </p:nvSpPr>
        <p:spPr>
          <a:xfrm>
            <a:off x="5752948" y="58293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☁</a:t>
            </a:r>
            <a:endParaRPr lang="en-US" sz="2000" dirty="0"/>
          </a:p>
        </p:txBody>
      </p:sp>
      <p:sp>
        <p:nvSpPr>
          <p:cNvPr id="37" name="Text 35"/>
          <p:cNvSpPr/>
          <p:nvPr/>
        </p:nvSpPr>
        <p:spPr>
          <a:xfrm>
            <a:off x="4724248" y="66294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Security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4815688" y="69494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VPC isolation, IAM roles &amp; secrets management.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57200" y="651052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ReturnX  |  Smart Enterprise Lost &amp; Found Management System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1277295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8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GAMIFICATION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Reward System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2542032" cy="1737360"/>
          </a:xfrm>
          <a:prstGeom prst="roundRect">
            <a:avLst>
              <a:gd name="adj" fmla="val 4211"/>
            </a:avLst>
          </a:prstGeom>
          <a:solidFill>
            <a:srgbClr val="F4F7FA"/>
          </a:solidFill>
          <a:ln/>
          <a:effectLst>
            <a:outerShdw sx="100000" sy="100000" kx="0" ky="0" algn="bl" rotWithShape="0" blurRad="76200" dist="25400" dir="5400000">
              <a:srgbClr val="9CA3AF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673352"/>
            <a:ext cx="25420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E8C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+10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85800" y="2514600"/>
            <a:ext cx="22677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Found Item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319272" y="1508760"/>
            <a:ext cx="2542032" cy="1737360"/>
          </a:xfrm>
          <a:prstGeom prst="roundRect">
            <a:avLst>
              <a:gd name="adj" fmla="val 4211"/>
            </a:avLst>
          </a:prstGeom>
          <a:solidFill>
            <a:srgbClr val="F4F7FA"/>
          </a:solidFill>
          <a:ln/>
          <a:effectLst>
            <a:outerShdw sx="100000" sy="100000" kx="0" ky="0" algn="bl" rotWithShape="0" blurRad="76200" dist="25400" dir="5400000">
              <a:srgbClr val="9CA3AF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319272" y="1673352"/>
            <a:ext cx="25420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E8C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+50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3456432" y="2514600"/>
            <a:ext cx="22677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Successful Return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089904" y="1508760"/>
            <a:ext cx="2542032" cy="1737360"/>
          </a:xfrm>
          <a:prstGeom prst="roundRect">
            <a:avLst>
              <a:gd name="adj" fmla="val 4211"/>
            </a:avLst>
          </a:prstGeom>
          <a:solidFill>
            <a:srgbClr val="F4F7FA"/>
          </a:solidFill>
          <a:ln/>
          <a:effectLst>
            <a:outerShdw sx="100000" sy="100000" kx="0" ky="0" algn="bl" rotWithShape="0" blurRad="76200" dist="25400" dir="5400000">
              <a:srgbClr val="9CA3AF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089904" y="1673352"/>
            <a:ext cx="25420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ECC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+100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6227064" y="2514600"/>
            <a:ext cx="22677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Return Bonus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860536" y="1508760"/>
            <a:ext cx="2542032" cy="1737360"/>
          </a:xfrm>
          <a:prstGeom prst="roundRect">
            <a:avLst>
              <a:gd name="adj" fmla="val 4211"/>
            </a:avLst>
          </a:prstGeom>
          <a:solidFill>
            <a:srgbClr val="F4F7FA"/>
          </a:solidFill>
          <a:ln/>
          <a:effectLst>
            <a:outerShdw sx="100000" sy="100000" kx="0" ky="0" algn="bl" rotWithShape="0" blurRad="76200" dist="25400" dir="5400000">
              <a:srgbClr val="9CA3AF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860536" y="1673352"/>
            <a:ext cx="25420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-30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8997696" y="2514600"/>
            <a:ext cx="22677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Claim Penalty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48640" y="35204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Leaderboard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548640" y="3977640"/>
            <a:ext cx="7315200" cy="475488"/>
          </a:xfrm>
          <a:prstGeom prst="roundRect">
            <a:avLst>
              <a:gd name="adj" fmla="val 11538"/>
            </a:avLst>
          </a:prstGeom>
          <a:solidFill>
            <a:srgbClr val="F7F9FC"/>
          </a:solidFill>
          <a:ln/>
        </p:spPr>
      </p:sp>
      <p:sp>
        <p:nvSpPr>
          <p:cNvPr id="18" name="Shape 16"/>
          <p:cNvSpPr/>
          <p:nvPr/>
        </p:nvSpPr>
        <p:spPr>
          <a:xfrm>
            <a:off x="868680" y="4032504"/>
            <a:ext cx="365760" cy="365760"/>
          </a:xfrm>
          <a:prstGeom prst="ellipse">
            <a:avLst/>
          </a:prstGeom>
          <a:solidFill>
            <a:srgbClr val="F2C94C"/>
          </a:solidFill>
          <a:ln/>
        </p:spPr>
      </p:sp>
      <p:sp>
        <p:nvSpPr>
          <p:cNvPr id="19" name="Text 17"/>
          <p:cNvSpPr/>
          <p:nvPr/>
        </p:nvSpPr>
        <p:spPr>
          <a:xfrm>
            <a:off x="868680" y="40325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417320" y="3977640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Priya Sharma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035040" y="3977640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0E8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480 pts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48640" y="4544568"/>
            <a:ext cx="7315200" cy="475488"/>
          </a:xfrm>
          <a:prstGeom prst="roundRect">
            <a:avLst>
              <a:gd name="adj" fmla="val 11538"/>
            </a:avLst>
          </a:prstGeom>
          <a:solidFill>
            <a:srgbClr val="F7F9FC"/>
          </a:solidFill>
          <a:ln/>
        </p:spPr>
      </p:sp>
      <p:sp>
        <p:nvSpPr>
          <p:cNvPr id="23" name="Shape 21"/>
          <p:cNvSpPr/>
          <p:nvPr/>
        </p:nvSpPr>
        <p:spPr>
          <a:xfrm>
            <a:off x="868680" y="4599432"/>
            <a:ext cx="365760" cy="365760"/>
          </a:xfrm>
          <a:prstGeom prst="ellipse">
            <a:avLst/>
          </a:prstGeom>
          <a:solidFill>
            <a:srgbClr val="BDC3C7"/>
          </a:solidFill>
          <a:ln/>
        </p:spPr>
      </p:sp>
      <p:sp>
        <p:nvSpPr>
          <p:cNvPr id="24" name="Text 22"/>
          <p:cNvSpPr/>
          <p:nvPr/>
        </p:nvSpPr>
        <p:spPr>
          <a:xfrm>
            <a:off x="868680" y="45994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417320" y="4544568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Rahul Verma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6035040" y="4544568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0E8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410 pts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548640" y="5111496"/>
            <a:ext cx="7315200" cy="475488"/>
          </a:xfrm>
          <a:prstGeom prst="roundRect">
            <a:avLst>
              <a:gd name="adj" fmla="val 11538"/>
            </a:avLst>
          </a:prstGeom>
          <a:solidFill>
            <a:srgbClr val="F7F9FC"/>
          </a:solidFill>
          <a:ln/>
        </p:spPr>
      </p:sp>
      <p:sp>
        <p:nvSpPr>
          <p:cNvPr id="28" name="Shape 26"/>
          <p:cNvSpPr/>
          <p:nvPr/>
        </p:nvSpPr>
        <p:spPr>
          <a:xfrm>
            <a:off x="868680" y="5166360"/>
            <a:ext cx="365760" cy="365760"/>
          </a:xfrm>
          <a:prstGeom prst="ellipse">
            <a:avLst/>
          </a:prstGeom>
          <a:solidFill>
            <a:srgbClr val="CD7F32"/>
          </a:solidFill>
          <a:ln/>
        </p:spPr>
      </p:sp>
      <p:sp>
        <p:nvSpPr>
          <p:cNvPr id="29" name="Text 27"/>
          <p:cNvSpPr/>
          <p:nvPr/>
        </p:nvSpPr>
        <p:spPr>
          <a:xfrm>
            <a:off x="868680" y="5166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417320" y="5111496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Aditi Rao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6035040" y="5111496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0E8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365 pts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548640" y="5678424"/>
            <a:ext cx="7315200" cy="475488"/>
          </a:xfrm>
          <a:prstGeom prst="roundRect">
            <a:avLst>
              <a:gd name="adj" fmla="val 11538"/>
            </a:avLst>
          </a:prstGeom>
          <a:solidFill>
            <a:srgbClr val="F4F7FA"/>
          </a:solidFill>
          <a:ln/>
        </p:spPr>
      </p:sp>
      <p:sp>
        <p:nvSpPr>
          <p:cNvPr id="33" name="Shape 31"/>
          <p:cNvSpPr/>
          <p:nvPr/>
        </p:nvSpPr>
        <p:spPr>
          <a:xfrm>
            <a:off x="868680" y="5733288"/>
            <a:ext cx="365760" cy="365760"/>
          </a:xfrm>
          <a:prstGeom prst="ellipse">
            <a:avLst/>
          </a:prstGeom>
          <a:solidFill>
            <a:srgbClr val="F4F7FA"/>
          </a:solidFill>
          <a:ln/>
        </p:spPr>
      </p:sp>
      <p:sp>
        <p:nvSpPr>
          <p:cNvPr id="34" name="Text 32"/>
          <p:cNvSpPr/>
          <p:nvPr/>
        </p:nvSpPr>
        <p:spPr>
          <a:xfrm>
            <a:off x="868680" y="57332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1417320" y="5678424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Karan Mehta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6035040" y="567842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0E8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290 pts</a:t>
            </a:r>
            <a:endParaRPr lang="en-US" sz="1250" dirty="0"/>
          </a:p>
        </p:txBody>
      </p:sp>
      <p:sp>
        <p:nvSpPr>
          <p:cNvPr id="37" name="Shape 35"/>
          <p:cNvSpPr/>
          <p:nvPr/>
        </p:nvSpPr>
        <p:spPr>
          <a:xfrm>
            <a:off x="8321040" y="3520440"/>
            <a:ext cx="3291840" cy="2788920"/>
          </a:xfrm>
          <a:prstGeom prst="roundRect">
            <a:avLst>
              <a:gd name="adj" fmla="val 3279"/>
            </a:avLst>
          </a:prstGeom>
          <a:solidFill>
            <a:srgbClr val="0B3D5C"/>
          </a:solidFill>
          <a:ln/>
        </p:spPr>
      </p:sp>
      <p:sp>
        <p:nvSpPr>
          <p:cNvPr id="38" name="Shape 36"/>
          <p:cNvSpPr/>
          <p:nvPr/>
        </p:nvSpPr>
        <p:spPr>
          <a:xfrm>
            <a:off x="9372600" y="3977640"/>
            <a:ext cx="1188720" cy="1188720"/>
          </a:xfrm>
          <a:prstGeom prst="ellipse">
            <a:avLst/>
          </a:prstGeom>
          <a:solidFill>
            <a:srgbClr val="2ECC71"/>
          </a:solidFill>
          <a:ln/>
        </p:spPr>
      </p:sp>
      <p:sp>
        <p:nvSpPr>
          <p:cNvPr id="39" name="Text 37"/>
          <p:cNvSpPr/>
          <p:nvPr/>
        </p:nvSpPr>
        <p:spPr>
          <a:xfrm>
            <a:off x="9372600" y="397764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</a:t>
            </a:r>
            <a:endParaRPr lang="en-US" sz="4000" dirty="0"/>
          </a:p>
        </p:txBody>
      </p:sp>
      <p:sp>
        <p:nvSpPr>
          <p:cNvPr id="40" name="Text 38"/>
          <p:cNvSpPr/>
          <p:nvPr/>
        </p:nvSpPr>
        <p:spPr>
          <a:xfrm>
            <a:off x="8549640" y="4892040"/>
            <a:ext cx="28346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6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performers unlock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6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 recognition &amp;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6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company-wide shout-outs.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457200" y="651052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ReturnX  |  Smart Enterprise Lost &amp; Found Management System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11277295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8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KEEPING EVERYONE INFORMED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Notification Module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2542032" cy="3566160"/>
          </a:xfrm>
          <a:prstGeom prst="roundRect">
            <a:avLst>
              <a:gd name="adj" fmla="val 2878"/>
            </a:avLst>
          </a:prstGeom>
          <a:solidFill>
            <a:srgbClr val="F4F7FA"/>
          </a:solidFill>
          <a:ln/>
          <a:effectLst>
            <a:outerShdw sx="100000" sy="100000" kx="0" ky="0" algn="bl" rotWithShape="0" blurRad="76200" dist="25400" dir="5400000">
              <a:srgbClr val="9CA3AF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385316" y="2080260"/>
            <a:ext cx="868680" cy="868680"/>
          </a:xfrm>
          <a:prstGeom prst="ellipse">
            <a:avLst/>
          </a:prstGeom>
          <a:solidFill>
            <a:srgbClr val="0B3D5C"/>
          </a:solidFill>
          <a:ln/>
        </p:spPr>
      </p:sp>
      <p:sp>
        <p:nvSpPr>
          <p:cNvPr id="6" name="Text 4"/>
          <p:cNvSpPr/>
          <p:nvPr/>
        </p:nvSpPr>
        <p:spPr>
          <a:xfrm>
            <a:off x="1385316" y="208026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✉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685800" y="3154680"/>
            <a:ext cx="22677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" y="3657600"/>
            <a:ext cx="208483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Transactional emails for account, claim, and return updates.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19272" y="1737360"/>
            <a:ext cx="2542032" cy="3566160"/>
          </a:xfrm>
          <a:prstGeom prst="roundRect">
            <a:avLst>
              <a:gd name="adj" fmla="val 2878"/>
            </a:avLst>
          </a:prstGeom>
          <a:solidFill>
            <a:srgbClr val="EAF2F8"/>
          </a:solidFill>
          <a:ln/>
          <a:effectLst>
            <a:outerShdw sx="100000" sy="100000" kx="0" ky="0" algn="bl" rotWithShape="0" blurRad="76200" dist="25400" dir="5400000">
              <a:srgbClr val="9CA3AF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155948" y="2080260"/>
            <a:ext cx="868680" cy="868680"/>
          </a:xfrm>
          <a:prstGeom prst="ellipse">
            <a:avLst/>
          </a:prstGeom>
          <a:solidFill>
            <a:srgbClr val="0E8C6E"/>
          </a:solidFill>
          <a:ln/>
        </p:spPr>
      </p:sp>
      <p:sp>
        <p:nvSpPr>
          <p:cNvPr id="11" name="Text 9"/>
          <p:cNvSpPr/>
          <p:nvPr/>
        </p:nvSpPr>
        <p:spPr>
          <a:xfrm>
            <a:off x="4155948" y="208026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🔔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3456432" y="3154680"/>
            <a:ext cx="22677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In-App Notification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547872" y="3657600"/>
            <a:ext cx="208483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bell notifications inside the ReturnX portal.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089904" y="1737360"/>
            <a:ext cx="2542032" cy="3566160"/>
          </a:xfrm>
          <a:prstGeom prst="roundRect">
            <a:avLst>
              <a:gd name="adj" fmla="val 2878"/>
            </a:avLst>
          </a:prstGeom>
          <a:solidFill>
            <a:srgbClr val="F4F7FA"/>
          </a:solidFill>
          <a:ln/>
          <a:effectLst>
            <a:outerShdw sx="100000" sy="100000" kx="0" ky="0" algn="bl" rotWithShape="0" blurRad="76200" dist="25400" dir="5400000">
              <a:srgbClr val="9CA3AF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926580" y="2080260"/>
            <a:ext cx="868680" cy="868680"/>
          </a:xfrm>
          <a:prstGeom prst="ellipse">
            <a:avLst/>
          </a:prstGeom>
          <a:solidFill>
            <a:srgbClr val="0B3D5C"/>
          </a:solidFill>
          <a:ln/>
        </p:spPr>
      </p:sp>
      <p:sp>
        <p:nvSpPr>
          <p:cNvPr id="16" name="Text 14"/>
          <p:cNvSpPr/>
          <p:nvPr/>
        </p:nvSpPr>
        <p:spPr>
          <a:xfrm>
            <a:off x="6926580" y="208026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⌕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6227064" y="3154680"/>
            <a:ext cx="22677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 Alert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318504" y="3657600"/>
            <a:ext cx="208483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alert when a found item matches a lost report.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860536" y="1737360"/>
            <a:ext cx="2542032" cy="3566160"/>
          </a:xfrm>
          <a:prstGeom prst="roundRect">
            <a:avLst>
              <a:gd name="adj" fmla="val 2878"/>
            </a:avLst>
          </a:prstGeom>
          <a:solidFill>
            <a:srgbClr val="EAF2F8"/>
          </a:solidFill>
          <a:ln/>
          <a:effectLst>
            <a:outerShdw sx="100000" sy="100000" kx="0" ky="0" algn="bl" rotWithShape="0" blurRad="76200" dist="25400" dir="5400000">
              <a:srgbClr val="9CA3AF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697212" y="2080260"/>
            <a:ext cx="868680" cy="868680"/>
          </a:xfrm>
          <a:prstGeom prst="ellipse">
            <a:avLst/>
          </a:prstGeom>
          <a:solidFill>
            <a:srgbClr val="0E8C6E"/>
          </a:solidFill>
          <a:ln/>
        </p:spPr>
      </p:sp>
      <p:sp>
        <p:nvSpPr>
          <p:cNvPr id="21" name="Text 19"/>
          <p:cNvSpPr/>
          <p:nvPr/>
        </p:nvSpPr>
        <p:spPr>
          <a:xfrm>
            <a:off x="9697212" y="208026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8997696" y="3154680"/>
            <a:ext cx="22677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 Alert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089136" y="3657600"/>
            <a:ext cx="208483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Notifies employees the moment reward points are credited.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651052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ReturnX  |  Smart Enterprise Lost &amp; Found Management System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77295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8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CONTRACT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API Overview</a:t>
            </a:r>
            <a:endParaRPr lang="en-US" sz="30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1852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657600"/>
                <a:gridCol w="1828800"/>
                <a:gridCol w="352044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Service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Endpoint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B3D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/api/auth/login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Authenticate user &amp; issue JWT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B3D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/api/users/{id}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Fetch employee profile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B3D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/api/items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 / GET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Report or search items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B3D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Claim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/api/claims/{id}/verify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Verify &amp; approve a claim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B3D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Reward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/api/rewards/{userId}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Fetch reward point balance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B3D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Notification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/api/notifications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Fetch user notifications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51052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ReturnX  |  Smart Enterprise Lost &amp; Found Management System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277295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8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Enhancements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456432" cy="1508760"/>
          </a:xfrm>
          <a:prstGeom prst="roundRect">
            <a:avLst>
              <a:gd name="adj" fmla="val 4848"/>
            </a:avLst>
          </a:prstGeom>
          <a:solidFill>
            <a:srgbClr val="F4F7FA"/>
          </a:solidFill>
          <a:ln/>
          <a:effectLst>
            <a:outerShdw sx="100000" sy="100000" kx="0" ky="0" algn="bl" rotWithShape="0" blurRad="76200" dist="25400" dir="5400000">
              <a:srgbClr val="9CA3AF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2034540"/>
            <a:ext cx="548640" cy="548640"/>
          </a:xfrm>
          <a:prstGeom prst="ellipse">
            <a:avLst/>
          </a:prstGeom>
          <a:solidFill>
            <a:srgbClr val="0B3D5C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0345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463040" y="1719072"/>
            <a:ext cx="2404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Image Matching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463040" y="2103120"/>
            <a:ext cx="24048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vision to auto-match lost &amp; found photos.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233672" y="1554480"/>
            <a:ext cx="3456432" cy="1508760"/>
          </a:xfrm>
          <a:prstGeom prst="roundRect">
            <a:avLst>
              <a:gd name="adj" fmla="val 4848"/>
            </a:avLst>
          </a:prstGeom>
          <a:solidFill>
            <a:srgbClr val="F4F7FA"/>
          </a:solidFill>
          <a:ln/>
          <a:effectLst>
            <a:outerShdw sx="100000" sy="100000" kx="0" ky="0" algn="bl" rotWithShape="0" blurRad="76200" dist="25400" dir="5400000">
              <a:srgbClr val="9CA3AF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462272" y="2034540"/>
            <a:ext cx="548640" cy="548640"/>
          </a:xfrm>
          <a:prstGeom prst="ellipse">
            <a:avLst/>
          </a:prstGeom>
          <a:solidFill>
            <a:srgbClr val="0E8C6E"/>
          </a:solidFill>
          <a:ln/>
        </p:spPr>
      </p:sp>
      <p:sp>
        <p:nvSpPr>
          <p:cNvPr id="11" name="Text 9"/>
          <p:cNvSpPr/>
          <p:nvPr/>
        </p:nvSpPr>
        <p:spPr>
          <a:xfrm>
            <a:off x="4462272" y="20345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148072" y="1719072"/>
            <a:ext cx="2404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148072" y="2103120"/>
            <a:ext cx="24048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text from ID cards &amp; tags for faster identification.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918704" y="1554480"/>
            <a:ext cx="3456432" cy="1508760"/>
          </a:xfrm>
          <a:prstGeom prst="roundRect">
            <a:avLst>
              <a:gd name="adj" fmla="val 4848"/>
            </a:avLst>
          </a:prstGeom>
          <a:solidFill>
            <a:srgbClr val="F4F7FA"/>
          </a:solidFill>
          <a:ln/>
          <a:effectLst>
            <a:outerShdw sx="100000" sy="100000" kx="0" ky="0" algn="bl" rotWithShape="0" blurRad="76200" dist="25400" dir="5400000">
              <a:srgbClr val="9CA3AF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147304" y="2034540"/>
            <a:ext cx="548640" cy="548640"/>
          </a:xfrm>
          <a:prstGeom prst="ellipse">
            <a:avLst/>
          </a:prstGeom>
          <a:solidFill>
            <a:srgbClr val="0B3D5C"/>
          </a:solidFill>
          <a:ln/>
        </p:spPr>
      </p:sp>
      <p:sp>
        <p:nvSpPr>
          <p:cNvPr id="16" name="Text 14"/>
          <p:cNvSpPr/>
          <p:nvPr/>
        </p:nvSpPr>
        <p:spPr>
          <a:xfrm>
            <a:off x="8147304" y="20345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833104" y="1719072"/>
            <a:ext cx="2404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833104" y="2103120"/>
            <a:ext cx="24048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Event-driven messaging for real-time service communication.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3291840"/>
            <a:ext cx="3456432" cy="1508760"/>
          </a:xfrm>
          <a:prstGeom prst="roundRect">
            <a:avLst>
              <a:gd name="adj" fmla="val 4848"/>
            </a:avLst>
          </a:prstGeom>
          <a:solidFill>
            <a:srgbClr val="F4F7FA"/>
          </a:solidFill>
          <a:ln/>
          <a:effectLst>
            <a:outerShdw sx="100000" sy="100000" kx="0" ky="0" algn="bl" rotWithShape="0" blurRad="76200" dist="25400" dir="5400000">
              <a:srgbClr val="9CA3AF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77240" y="3771900"/>
            <a:ext cx="548640" cy="548640"/>
          </a:xfrm>
          <a:prstGeom prst="ellipse">
            <a:avLst/>
          </a:prstGeom>
          <a:solidFill>
            <a:srgbClr val="0E8C6E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37719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463040" y="3456432"/>
            <a:ext cx="2404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Native App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463040" y="3840480"/>
            <a:ext cx="24048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mobile app for on-the-go reporting.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233672" y="3291840"/>
            <a:ext cx="3456432" cy="1508760"/>
          </a:xfrm>
          <a:prstGeom prst="roundRect">
            <a:avLst>
              <a:gd name="adj" fmla="val 4848"/>
            </a:avLst>
          </a:prstGeom>
          <a:solidFill>
            <a:srgbClr val="F4F7FA"/>
          </a:solidFill>
          <a:ln/>
          <a:effectLst>
            <a:outerShdw sx="100000" sy="100000" kx="0" ky="0" algn="bl" rotWithShape="0" blurRad="76200" dist="25400" dir="5400000">
              <a:srgbClr val="9CA3AF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462272" y="3771900"/>
            <a:ext cx="548640" cy="548640"/>
          </a:xfrm>
          <a:prstGeom prst="ellipse">
            <a:avLst/>
          </a:prstGeom>
          <a:solidFill>
            <a:srgbClr val="0B3D5C"/>
          </a:solidFill>
          <a:ln/>
        </p:spPr>
      </p:sp>
      <p:sp>
        <p:nvSpPr>
          <p:cNvPr id="26" name="Text 24"/>
          <p:cNvSpPr/>
          <p:nvPr/>
        </p:nvSpPr>
        <p:spPr>
          <a:xfrm>
            <a:off x="4462272" y="37719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148072" y="3456432"/>
            <a:ext cx="2404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 Teams Integration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148072" y="3840480"/>
            <a:ext cx="24048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and get alerts directly inside MS Teams.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7918704" y="3291840"/>
            <a:ext cx="3456432" cy="1508760"/>
          </a:xfrm>
          <a:prstGeom prst="roundRect">
            <a:avLst>
              <a:gd name="adj" fmla="val 4848"/>
            </a:avLst>
          </a:prstGeom>
          <a:solidFill>
            <a:srgbClr val="F4F7FA"/>
          </a:solidFill>
          <a:ln/>
          <a:effectLst>
            <a:outerShdw sx="100000" sy="100000" kx="0" ky="0" algn="bl" rotWithShape="0" blurRad="76200" dist="25400" dir="5400000">
              <a:srgbClr val="9CA3AF">
                <a:alpha val="2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147304" y="3771900"/>
            <a:ext cx="548640" cy="548640"/>
          </a:xfrm>
          <a:prstGeom prst="ellipse">
            <a:avLst/>
          </a:prstGeom>
          <a:solidFill>
            <a:srgbClr val="0E8C6E"/>
          </a:solidFill>
          <a:ln/>
        </p:spPr>
      </p:sp>
      <p:sp>
        <p:nvSpPr>
          <p:cNvPr id="31" name="Text 29"/>
          <p:cNvSpPr/>
          <p:nvPr/>
        </p:nvSpPr>
        <p:spPr>
          <a:xfrm>
            <a:off x="8147304" y="37719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8833104" y="3456432"/>
            <a:ext cx="2404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Dashboard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8833104" y="3840480"/>
            <a:ext cx="24048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insights into recovery rates &amp; trends.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57200" y="651052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ReturnX  |  Smart Enterprise Lost &amp; Found Management System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277295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B3D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7498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ReturnX Transforms Lost &amp; Found</a:t>
            </a:r>
            <a:endParaRPr lang="en-US" sz="2700" dirty="0"/>
          </a:p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Into a Trusted Enterprise Service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768096" y="2779776"/>
            <a:ext cx="384048" cy="384048"/>
          </a:xfrm>
          <a:prstGeom prst="ellipse">
            <a:avLst/>
          </a:prstGeom>
          <a:solidFill>
            <a:srgbClr val="2ECC71"/>
          </a:solidFill>
          <a:ln/>
        </p:spPr>
      </p:sp>
      <p:sp>
        <p:nvSpPr>
          <p:cNvPr id="5" name="Text 3"/>
          <p:cNvSpPr/>
          <p:nvPr/>
        </p:nvSpPr>
        <p:spPr>
          <a:xfrm>
            <a:off x="768096" y="27797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371600" y="274320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6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Replaces manual, HR-heavy processes with a self-service microservices platform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68096" y="3438144"/>
            <a:ext cx="384048" cy="384048"/>
          </a:xfrm>
          <a:prstGeom prst="ellipse">
            <a:avLst/>
          </a:prstGeom>
          <a:solidFill>
            <a:srgbClr val="2ECC71"/>
          </a:solidFill>
          <a:ln/>
        </p:spPr>
      </p:sp>
      <p:sp>
        <p:nvSpPr>
          <p:cNvPr id="8" name="Text 6"/>
          <p:cNvSpPr/>
          <p:nvPr/>
        </p:nvSpPr>
        <p:spPr>
          <a:xfrm>
            <a:off x="768096" y="34381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71600" y="3401568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6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Cuts recovery time through smart search, chat &amp; structured verification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68096" y="4096512"/>
            <a:ext cx="384048" cy="384048"/>
          </a:xfrm>
          <a:prstGeom prst="ellipse">
            <a:avLst/>
          </a:prstGeom>
          <a:solidFill>
            <a:srgbClr val="2ECC71"/>
          </a:solidFill>
          <a:ln/>
        </p:spPr>
      </p:sp>
      <p:sp>
        <p:nvSpPr>
          <p:cNvPr id="11" name="Text 9"/>
          <p:cNvSpPr/>
          <p:nvPr/>
        </p:nvSpPr>
        <p:spPr>
          <a:xfrm>
            <a:off x="768096" y="40965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371600" y="4059936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6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trust and participation through transparent gamified rewards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68096" y="4754880"/>
            <a:ext cx="384048" cy="384048"/>
          </a:xfrm>
          <a:prstGeom prst="ellipse">
            <a:avLst/>
          </a:prstGeom>
          <a:solidFill>
            <a:srgbClr val="2ECC71"/>
          </a:solidFill>
          <a:ln/>
        </p:spPr>
      </p:sp>
      <p:sp>
        <p:nvSpPr>
          <p:cNvPr id="14" name="Text 12"/>
          <p:cNvSpPr/>
          <p:nvPr/>
        </p:nvSpPr>
        <p:spPr>
          <a:xfrm>
            <a:off x="768096" y="4754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371600" y="4718304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6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a secure, scalable, cloud-native Spring Boot &amp; React foundation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" y="651052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ReturnX  |  Smart Enterprise Lost &amp; Found Management System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7295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B3D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645920"/>
            <a:ext cx="4572000" cy="4572000"/>
          </a:xfrm>
          <a:prstGeom prst="ellipse">
            <a:avLst/>
          </a:prstGeom>
          <a:solidFill>
            <a:srgbClr val="0A2E45"/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4114800"/>
            <a:ext cx="4114800" cy="4114800"/>
          </a:xfrm>
          <a:prstGeom prst="ellipse">
            <a:avLst/>
          </a:prstGeom>
          <a:solidFill>
            <a:srgbClr val="0A2E45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2377440"/>
            <a:ext cx="1219169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0" y="3429000"/>
            <a:ext cx="12191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090008" y="4160520"/>
            <a:ext cx="2011680" cy="0"/>
          </a:xfrm>
          <a:prstGeom prst="line">
            <a:avLst/>
          </a:prstGeom>
          <a:noFill/>
          <a:ln w="31750">
            <a:solidFill>
              <a:srgbClr val="2ECC7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0" y="6126480"/>
            <a:ext cx="12191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ReturnX  |  Smart Enterprise Lost &amp; Found Management System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2026-07-31T09:59:04Z</dcterms:created>
  <dcterms:modified xsi:type="dcterms:W3CDTF">2026-07-31T09:59:04Z</dcterms:modified>
</cp:coreProperties>
</file>